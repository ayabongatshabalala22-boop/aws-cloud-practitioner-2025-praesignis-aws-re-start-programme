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09" r:id="rId7"/>
    <p:sldId id="263" r:id="rId8"/>
    <p:sldId id="310" r:id="rId9"/>
    <p:sldId id="311" r:id="rId10"/>
    <p:sldId id="321" r:id="rId11"/>
    <p:sldId id="312" r:id="rId12"/>
    <p:sldId id="316" r:id="rId13"/>
    <p:sldId id="318" r:id="rId14"/>
    <p:sldId id="319" r:id="rId15"/>
    <p:sldId id="320"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405" autoAdjust="0"/>
  </p:normalViewPr>
  <p:slideViewPr>
    <p:cSldViewPr snapToGrid="0">
      <p:cViewPr varScale="1">
        <p:scale>
          <a:sx n="65" d="100"/>
          <a:sy n="65" d="100"/>
        </p:scale>
        <p:origin x="858"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xmlns=""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12/17/2025</a:t>
            </a:fld>
            <a:endParaRPr lang="en-US" dirty="0"/>
          </a:p>
        </p:txBody>
      </p:sp>
      <p:sp>
        <p:nvSpPr>
          <p:cNvPr id="4" name="Footer Placeholder 3">
            <a:extLst>
              <a:ext uri="{FF2B5EF4-FFF2-40B4-BE49-F238E27FC236}">
                <a16:creationId xmlns:a16="http://schemas.microsoft.com/office/drawing/2014/main" xmlns=""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306573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xmlns="" id="{4D792B1F-855B-FC83-1023-94C0976E9848}"/>
              </a:ext>
              <a:ext uri="{C183D7F6-B498-43B3-948B-1728B52AA6E4}">
                <adec:decorative xmlns:adec="http://schemas.microsoft.com/office/drawing/2017/decorative" xmlns=""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xmlns="" id="{EF359D7C-AC03-77FE-CA1D-B96B46B08D16}"/>
              </a:ext>
              <a:ext uri="{C183D7F6-B498-43B3-948B-1728B52AA6E4}">
                <adec:decorative xmlns:adec="http://schemas.microsoft.com/office/drawing/2017/decorative" xmlns=""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xmlns="" id="{C9AA487F-3729-4692-1A21-35558A2D840B}"/>
              </a:ext>
              <a:ext uri="{C183D7F6-B498-43B3-948B-1728B52AA6E4}">
                <adec:decorative xmlns:adec="http://schemas.microsoft.com/office/drawing/2017/decorative" xmlns=""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xmlns="" id="{84B8E19A-569B-855B-EBF8-C02F2998ABC8}"/>
              </a:ext>
              <a:ext uri="{C183D7F6-B498-43B3-948B-1728B52AA6E4}">
                <adec:decorative xmlns:adec="http://schemas.microsoft.com/office/drawing/2017/decorative" xmlns=""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xmlns="" id="{941984E2-3225-05D3-3A3D-9D5F5840ED60}"/>
              </a:ext>
              <a:ext uri="{C183D7F6-B498-43B3-948B-1728B52AA6E4}">
                <adec:decorative xmlns:adec="http://schemas.microsoft.com/office/drawing/2017/decorative" xmlns=""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xmlns="" id="{070813B7-403A-9A3E-5E5C-44C1680DE4C3}"/>
              </a:ext>
              <a:ext uri="{C183D7F6-B498-43B3-948B-1728B52AA6E4}">
                <adec:decorative xmlns:adec="http://schemas.microsoft.com/office/drawing/2017/decorative" xmlns=""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xmlns="" id="{7A7BB3C1-4B05-D5B3-C61C-1CD390CEEF2B}"/>
              </a:ext>
              <a:ext uri="{C183D7F6-B498-43B3-948B-1728B52AA6E4}">
                <adec:decorative xmlns:adec="http://schemas.microsoft.com/office/drawing/2017/decorative" xmlns=""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xmlns="" id="{CE6955A7-F39A-1FBB-FF32-C6F0E3289273}"/>
              </a:ext>
              <a:ext uri="{C183D7F6-B498-43B3-948B-1728B52AA6E4}">
                <adec:decorative xmlns:adec="http://schemas.microsoft.com/office/drawing/2017/decorative" xmlns=""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xmlns=""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xmlns="" id="{B5ED90D1-D640-D115-6711-35DE812FC014}"/>
              </a:ext>
              <a:ext uri="{C183D7F6-B498-43B3-948B-1728B52AA6E4}">
                <adec:decorative xmlns:adec="http://schemas.microsoft.com/office/drawing/2017/decorative" xmlns=""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xmlns="" id="{F8D9EAE4-01F5-6C99-C91E-BF0FD0CD1CEF}"/>
              </a:ext>
              <a:ext uri="{C183D7F6-B498-43B3-948B-1728B52AA6E4}">
                <adec:decorative xmlns:adec="http://schemas.microsoft.com/office/drawing/2017/decorative" xmlns=""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xmlns=""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xmlns="" id="{D24A04BE-9BA3-80DD-EE68-A8B8BA08532B}"/>
              </a:ext>
              <a:ext uri="{C183D7F6-B498-43B3-948B-1728B52AA6E4}">
                <adec:decorative xmlns:adec="http://schemas.microsoft.com/office/drawing/2017/decorative" xmlns=""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xmlns="" id="{9E4F6A04-3331-D4C7-3EAE-0F69B48A7C71}"/>
              </a:ext>
              <a:ext uri="{C183D7F6-B498-43B3-948B-1728B52AA6E4}">
                <adec:decorative xmlns:adec="http://schemas.microsoft.com/office/drawing/2017/decorative" xmlns=""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xmlns="" id="{0587ACFB-02E0-79F1-D5B0-E8B18598D688}"/>
              </a:ext>
              <a:ext uri="{C183D7F6-B498-43B3-948B-1728B52AA6E4}">
                <adec:decorative xmlns:adec="http://schemas.microsoft.com/office/drawing/2017/decorative" xmlns=""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xmlns=""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xmlns=""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xmlns=""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98639877-C4A6-4E44-C600-FE3C6CD5F187}"/>
              </a:ext>
              <a:ext uri="{C183D7F6-B498-43B3-948B-1728B52AA6E4}">
                <adec:decorative xmlns:adec="http://schemas.microsoft.com/office/drawing/2017/decorative" xmlns=""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xmlns="" id="{F0439AA5-A7EE-A20E-BB67-D356776D0B21}"/>
                </a:ext>
                <a:ext uri="{C183D7F6-B498-43B3-948B-1728B52AA6E4}">
                  <adec:decorative xmlns:adec="http://schemas.microsoft.com/office/drawing/2017/decorative" xmlns=""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xmlns="" id="{39E752F7-61F0-6779-9E8E-3541BFF7D2CF}"/>
                </a:ext>
                <a:ext uri="{C183D7F6-B498-43B3-948B-1728B52AA6E4}">
                  <adec:decorative xmlns:adec="http://schemas.microsoft.com/office/drawing/2017/decorative" xmlns=""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xmlns=""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xmlns="" id="{6FD0E545-8D0D-B848-836A-23CEBCD6B0A5}"/>
              </a:ext>
              <a:ext uri="{C183D7F6-B498-43B3-948B-1728B52AA6E4}">
                <adec:decorative xmlns:adec="http://schemas.microsoft.com/office/drawing/2017/decorative" xmlns=""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xmlns="" id="{7114E853-6F7C-9899-77FD-0E77D0A86207}"/>
              </a:ext>
              <a:ext uri="{C183D7F6-B498-43B3-948B-1728B52AA6E4}">
                <adec:decorative xmlns:adec="http://schemas.microsoft.com/office/drawing/2017/decorative" xmlns=""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xmlns="" id="{69002426-033B-400A-C519-AF4C659C4F05}"/>
              </a:ext>
              <a:ext uri="{C183D7F6-B498-43B3-948B-1728B52AA6E4}">
                <adec:decorative xmlns:adec="http://schemas.microsoft.com/office/drawing/2017/decorative" xmlns=""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xmlns=""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xmlns=""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xmlns="" id="{90FA743D-BDB5-4069-7325-E91CA7BC3ED7}"/>
              </a:ext>
              <a:ext uri="{C183D7F6-B498-43B3-948B-1728B52AA6E4}">
                <adec:decorative xmlns:adec="http://schemas.microsoft.com/office/drawing/2017/decorative" xmlns=""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xmlns="" id="{2FE03F25-D589-68A8-30C7-175547B6A9EE}"/>
              </a:ext>
              <a:ext uri="{C183D7F6-B498-43B3-948B-1728B52AA6E4}">
                <adec:decorative xmlns:adec="http://schemas.microsoft.com/office/drawing/2017/decorative" xmlns=""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xmlns="" id="{7CB19B63-2AAF-E86D-D7F1-B659DB36B5AC}"/>
              </a:ext>
              <a:ext uri="{C183D7F6-B498-43B3-948B-1728B52AA6E4}">
                <adec:decorative xmlns:adec="http://schemas.microsoft.com/office/drawing/2017/decorative" xmlns="" val="1"/>
              </a:ext>
            </a:extLst>
          </p:cNvPr>
          <p:cNvPicPr>
            <a:picLocks noChangeAspect="1"/>
          </p:cNvPicPr>
          <p:nvPr userDrawn="1"/>
        </p:nvPicPr>
        <p:blipFill>
          <a:blip r:embed="rId2">
            <a:alphaModFix/>
            <a:extLst>
              <a:ext uri="{96DAC541-7B7A-43D3-8B79-37D633B846F1}">
                <asvg:svgBlip xmlns:asvg="http://schemas.microsoft.com/office/drawing/2016/SVG/main" xmlns=""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xmlns="" id="{83712F38-4391-A499-56E2-8F095A506D08}"/>
              </a:ext>
              <a:ext uri="{C183D7F6-B498-43B3-948B-1728B52AA6E4}">
                <adec:decorative xmlns:adec="http://schemas.microsoft.com/office/drawing/2017/decorative" xmlns=""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xmlns=""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xmlns=""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xmlns=""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xmlns="" id="{A3F1B258-8FBC-06A8-3A1F-466CEEDBBEF2}"/>
              </a:ext>
              <a:ext uri="{C183D7F6-B498-43B3-948B-1728B52AA6E4}">
                <adec:decorative xmlns:adec="http://schemas.microsoft.com/office/drawing/2017/decorative" xmlns=""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xmlns="" id="{8BAD4AF0-64CE-5C0E-5440-00F8FC6B3194}"/>
              </a:ext>
              <a:ext uri="{C183D7F6-B498-43B3-948B-1728B52AA6E4}">
                <adec:decorative xmlns:adec="http://schemas.microsoft.com/office/drawing/2017/decorative" xmlns=""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xmlns=""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7DCD020E-88CF-303D-F947-8EE980AC8093}"/>
              </a:ext>
              <a:ext uri="{C183D7F6-B498-43B3-948B-1728B52AA6E4}">
                <adec:decorative xmlns:adec="http://schemas.microsoft.com/office/drawing/2017/decorative" xmlns=""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xmlns=""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xmlns=""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xmlns=""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xmlns=""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xmlns=""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xmlns=""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EB31668E-263B-8FB1-9DBB-25F22BB441B3}"/>
              </a:ext>
              <a:ext uri="{C183D7F6-B498-43B3-948B-1728B52AA6E4}">
                <adec:decorative xmlns:adec="http://schemas.microsoft.com/office/drawing/2017/decorative" xmlns=""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xmlns="" id="{0972DA96-A413-EF87-50D3-D8EF54FD9F55}"/>
              </a:ext>
              <a:ext uri="{C183D7F6-B498-43B3-948B-1728B52AA6E4}">
                <adec:decorative xmlns:adec="http://schemas.microsoft.com/office/drawing/2017/decorative" xmlns=""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xmlns=""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xmlns=""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xmlns=""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xmlns=""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xmlns="" id="{4A781A8E-199F-1F48-C80E-B6501B563323}"/>
              </a:ext>
              <a:ext uri="{C183D7F6-B498-43B3-948B-1728B52AA6E4}">
                <adec:decorative xmlns:adec="http://schemas.microsoft.com/office/drawing/2017/decorative" xmlns=""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xmlns="" id="{11C6679A-1B60-DCCD-7295-255649B92C60}"/>
              </a:ext>
              <a:ext uri="{C183D7F6-B498-43B3-948B-1728B52AA6E4}">
                <adec:decorative xmlns:adec="http://schemas.microsoft.com/office/drawing/2017/decorative" xmlns=""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xmlns="" id="{1C466053-4CA7-4CBB-C1D2-19FE899BEDFC}"/>
              </a:ext>
              <a:ext uri="{C183D7F6-B498-43B3-948B-1728B52AA6E4}">
                <adec:decorative xmlns:adec="http://schemas.microsoft.com/office/drawing/2017/decorative" xmlns=""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xmlns="" id="{1100480F-88D3-CF82-FAF8-9527C86BCAE2}"/>
              </a:ext>
              <a:ext uri="{C183D7F6-B498-43B3-948B-1728B52AA6E4}">
                <adec:decorative xmlns:adec="http://schemas.microsoft.com/office/drawing/2017/decorative" xmlns=""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xmlns=""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xmlns=""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xmlns=""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xmlns=""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xmlns="" id="{B05A86D8-26B0-1ADB-0CE2-B445D2A2866D}"/>
              </a:ext>
              <a:ext uri="{C183D7F6-B498-43B3-948B-1728B52AA6E4}">
                <adec:decorative xmlns:adec="http://schemas.microsoft.com/office/drawing/2017/decorative" xmlns=""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xmlns="" id="{33A68E8B-64DF-46D3-2FA2-4BBBBF8BFB15}"/>
              </a:ext>
              <a:ext uri="{C183D7F6-B498-43B3-948B-1728B52AA6E4}">
                <adec:decorative xmlns:adec="http://schemas.microsoft.com/office/drawing/2017/decorative" xmlns=""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xmlns=""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xmlns=""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xmlns=""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xmlns=""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xmlns="" id="{CADEA8BB-3550-ABDA-99A6-455084D5D432}"/>
              </a:ext>
              <a:ext uri="{C183D7F6-B498-43B3-948B-1728B52AA6E4}">
                <adec:decorative xmlns:adec="http://schemas.microsoft.com/office/drawing/2017/decorative" xmlns=""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xmlns="" id="{F0A8F0DB-3D3D-DC0F-84AC-4386B58AD6E5}"/>
              </a:ext>
              <a:ext uri="{C183D7F6-B498-43B3-948B-1728B52AA6E4}">
                <adec:decorative xmlns:adec="http://schemas.microsoft.com/office/drawing/2017/decorative" xmlns=""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xmlns=""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xmlns=""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xmlns=""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xmlns="" id="{686C03E6-655F-A394-4461-7BC878C418BB}"/>
              </a:ext>
              <a:ext uri="{C183D7F6-B498-43B3-948B-1728B52AA6E4}">
                <adec:decorative xmlns:adec="http://schemas.microsoft.com/office/drawing/2017/decorative" xmlns=""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xmlns="" id="{BF7A62BA-11D3-585A-8CBD-5E0FB4DE522D}"/>
              </a:ext>
              <a:ext uri="{C183D7F6-B498-43B3-948B-1728B52AA6E4}">
                <adec:decorative xmlns:adec="http://schemas.microsoft.com/office/drawing/2017/decorative" xmlns=""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xmlns="" id="{8E1AE81E-772F-B009-AF15-C0FC060518A7}"/>
              </a:ext>
              <a:ext uri="{C183D7F6-B498-43B3-948B-1728B52AA6E4}">
                <adec:decorative xmlns:adec="http://schemas.microsoft.com/office/drawing/2017/decorative" xmlns=""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xmlns=""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CC72F6-C144-5508-40C5-E1B3FC085B94}"/>
              </a:ext>
              <a:ext uri="{C183D7F6-B498-43B3-948B-1728B52AA6E4}">
                <adec:decorative xmlns:adec="http://schemas.microsoft.com/office/drawing/2017/decorative" xmlns=""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xmlns="" id="{FF76D2EA-2C6E-B0B2-DC0D-F9EF636E5856}"/>
                </a:ext>
                <a:ext uri="{C183D7F6-B498-43B3-948B-1728B52AA6E4}">
                  <adec:decorative xmlns:adec="http://schemas.microsoft.com/office/drawing/2017/decorative" xmlns=""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xmlns="" id="{90315871-F40F-D512-8E3F-B40F36BD4224}"/>
                </a:ext>
                <a:ext uri="{C183D7F6-B498-43B3-948B-1728B52AA6E4}">
                  <adec:decorative xmlns:adec="http://schemas.microsoft.com/office/drawing/2017/decorative" xmlns=""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xmlns="" id="{10C11C1A-EFCF-278A-D083-93F07D4DEA67}"/>
              </a:ext>
              <a:ext uri="{C183D7F6-B498-43B3-948B-1728B52AA6E4}">
                <adec:decorative xmlns:adec="http://schemas.microsoft.com/office/drawing/2017/decorative" xmlns=""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xmlns=""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xmlns=""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xmlns=""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xmlns=""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xmlns="" id="{B45A4A65-E8B8-40CF-7ABD-97EA8FA97521}"/>
              </a:ext>
            </a:extLst>
          </p:cNvPr>
          <p:cNvSpPr>
            <a:spLocks noGrp="1"/>
          </p:cNvSpPr>
          <p:nvPr>
            <p:ph type="ctrTitle"/>
          </p:nvPr>
        </p:nvSpPr>
        <p:spPr>
          <a:xfrm>
            <a:off x="915924" y="914400"/>
            <a:ext cx="10360152" cy="5029200"/>
          </a:xfrm>
        </p:spPr>
        <p:txBody>
          <a:bodyPr anchor="ctr"/>
          <a:lstStyle/>
          <a:p>
            <a:r>
              <a:rPr lang="en-US" dirty="0"/>
              <a:t>AWS </a:t>
            </a:r>
            <a:r>
              <a:rPr lang="en-US" dirty="0" smtClean="0"/>
              <a:t>Chatbot-S3</a:t>
            </a:r>
            <a:r>
              <a:rPr lang="en-US" dirty="0"/>
              <a:t/>
            </a:r>
            <a:br>
              <a:rPr lang="en-US" dirty="0"/>
            </a:br>
            <a:r>
              <a:rPr lang="en-US" sz="2000" i="1" dirty="0"/>
              <a:t>“Interactive learning powered by Amazon Lex &amp; AWS Lambda”</a:t>
            </a:r>
            <a:r>
              <a:rPr lang="en-US" sz="2000" dirty="0"/>
              <a:t> </a:t>
            </a:r>
            <a:endParaRPr lang="en-US" sz="20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F46C7B-D29F-368C-FEEC-CDFA125F8E5C}"/>
              </a:ext>
            </a:extLst>
          </p:cNvPr>
          <p:cNvSpPr>
            <a:spLocks noGrp="1"/>
          </p:cNvSpPr>
          <p:nvPr>
            <p:ph type="title"/>
          </p:nvPr>
        </p:nvSpPr>
        <p:spPr>
          <a:xfrm>
            <a:off x="1001467" y="914400"/>
            <a:ext cx="5641848" cy="5029200"/>
          </a:xfrm>
        </p:spPr>
        <p:txBody>
          <a:bodyPr/>
          <a:lstStyle/>
          <a:p>
            <a:r>
              <a:rPr lang="en-US" dirty="0"/>
              <a:t>AWS –CHATBOT-S3</a:t>
            </a:r>
          </a:p>
        </p:txBody>
      </p:sp>
      <p:graphicFrame>
        <p:nvGraphicFramePr>
          <p:cNvPr id="6" name="Table 4">
            <a:extLst>
              <a:ext uri="{FF2B5EF4-FFF2-40B4-BE49-F238E27FC236}">
                <a16:creationId xmlns:a16="http://schemas.microsoft.com/office/drawing/2014/main" xmlns="" id="{0D6FB95E-6987-A57C-3663-3FD6F6FAC24E}"/>
              </a:ext>
            </a:extLst>
          </p:cNvPr>
          <p:cNvGraphicFramePr>
            <a:graphicFrameLocks noGrp="1"/>
          </p:cNvGraphicFramePr>
          <p:nvPr>
            <p:ph idx="1"/>
            <p:extLst>
              <p:ext uri="{D42A27DB-BD31-4B8C-83A1-F6EECF244321}">
                <p14:modId xmlns:p14="http://schemas.microsoft.com/office/powerpoint/2010/main" val="4039290413"/>
              </p:ext>
            </p:extLst>
          </p:nvPr>
        </p:nvGraphicFramePr>
        <p:xfrm>
          <a:off x="6869113" y="641684"/>
          <a:ext cx="4448461" cy="5768902"/>
        </p:xfrm>
        <a:graphic>
          <a:graphicData uri="http://schemas.openxmlformats.org/drawingml/2006/table">
            <a:tbl>
              <a:tblPr firstRow="1" bandRow="1"/>
              <a:tblGrid>
                <a:gridCol w="4448461">
                  <a:extLst>
                    <a:ext uri="{9D8B030D-6E8A-4147-A177-3AD203B41FA5}">
                      <a16:colId xmlns:a16="http://schemas.microsoft.com/office/drawing/2014/main" xmlns="" val="1563570424"/>
                    </a:ext>
                  </a:extLst>
                </a:gridCol>
              </a:tblGrid>
              <a:tr h="90335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INTRODUCTION</a:t>
                      </a:r>
                    </a:p>
                    <a:p>
                      <a:pPr algn="r"/>
                      <a:r>
                        <a:rPr lang="en-US" sz="2400" b="0" dirty="0">
                          <a:latin typeface="+mj-lt"/>
                        </a:rPr>
                        <a:t>Purpose of the Chatbot</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289471877"/>
                  </a:ext>
                </a:extLst>
              </a:tr>
              <a:tr h="1074650">
                <a:tc>
                  <a:txBody>
                    <a:bodyPr/>
                    <a:lstStyle/>
                    <a:p>
                      <a:pPr algn="r"/>
                      <a:r>
                        <a:rPr lang="en-US" sz="2400" b="0" dirty="0"/>
                        <a:t>KEY COMPONENTS</a:t>
                      </a:r>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836238222"/>
                  </a:ext>
                </a:extLst>
              </a:tr>
              <a:tr h="1096580">
                <a:tc>
                  <a:txBody>
                    <a:bodyPr/>
                    <a:lstStyle/>
                    <a:p>
                      <a:pPr algn="r"/>
                      <a:r>
                        <a:rPr lang="en-US" sz="2400" b="0" dirty="0"/>
                        <a:t>BENEFITS OF AMAZON LEX</a:t>
                      </a:r>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2824452646"/>
                  </a:ext>
                </a:extLst>
              </a:tr>
              <a:tr h="105271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t>BENEFITS OF AWS LAMBDA  A</a:t>
                      </a:r>
                      <a:endParaRPr lang="en-US" sz="2400" b="0" dirty="0">
                        <a:latin typeface="+mn-lt"/>
                        <a:cs typeface="Gill Sans Light" panose="020B0302020104020203" pitchFamily="34" charset="-79"/>
                      </a:endParaRPr>
                    </a:p>
                    <a:p>
                      <a:pPr marL="0" algn="r" defTabSz="914400" rtl="0" eaLnBrk="1" latinLnBrk="0" hangingPunct="1"/>
                      <a:r>
                        <a:rPr lang="en-US" sz="2400" b="0" kern="1200" dirty="0">
                          <a:solidFill>
                            <a:schemeClr val="tx1"/>
                          </a:solidFill>
                          <a:latin typeface="+mj-lt"/>
                          <a:ea typeface="+mn-ea"/>
                          <a:cs typeface="+mn-cs"/>
                        </a:rPr>
                        <a:t> </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390977400"/>
                  </a:ext>
                </a:extLst>
              </a:tr>
              <a:tr h="150559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ZA" sz="1800" b="1" kern="1200" dirty="0">
                          <a:solidFill>
                            <a:schemeClr val="tx1"/>
                          </a:solidFill>
                          <a:effectLst/>
                          <a:latin typeface="+mn-lt"/>
                          <a:ea typeface="+mn-ea"/>
                          <a:cs typeface="+mn-cs"/>
                        </a:rPr>
                        <a:t>COMBINED BENEFITS FOR A SKILLS CHECK  CHATBOT</a:t>
                      </a:r>
                      <a:endParaRPr lang="en-ZA" sz="1800" kern="1200" dirty="0">
                        <a:solidFill>
                          <a:schemeClr val="tx1"/>
                        </a:solidFill>
                        <a:effectLst/>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b="0" dirty="0">
                        <a:latin typeface="+mn-lt"/>
                        <a:cs typeface="Gill Sans Light" panose="020B0302020104020203" pitchFamily="34" charset="-79"/>
                      </a:endParaRPr>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xmlns=""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xmlns="" id="{A7BE12AD-D808-BDE0-3EB8-5BC50B1D8474}"/>
              </a:ext>
            </a:extLst>
          </p:cNvPr>
          <p:cNvSpPr>
            <a:spLocks noGrp="1"/>
          </p:cNvSpPr>
          <p:nvPr>
            <p:ph type="title"/>
          </p:nvPr>
        </p:nvSpPr>
        <p:spPr>
          <a:xfrm>
            <a:off x="914400" y="513347"/>
            <a:ext cx="7534656" cy="1315453"/>
          </a:xfrm>
        </p:spPr>
        <p:txBody>
          <a:bodyPr/>
          <a:lstStyle/>
          <a:p>
            <a:r>
              <a:rPr lang="en-GB" b="1" dirty="0"/>
              <a:t> Group 3.   Chatbot. Using AWS Amazon Lex and Lambda Services.</a:t>
            </a:r>
            <a:endParaRPr lang="en-US" dirty="0"/>
          </a:p>
        </p:txBody>
      </p:sp>
      <p:sp>
        <p:nvSpPr>
          <p:cNvPr id="8" name="Content Placeholder 7">
            <a:extLst>
              <a:ext uri="{FF2B5EF4-FFF2-40B4-BE49-F238E27FC236}">
                <a16:creationId xmlns:a16="http://schemas.microsoft.com/office/drawing/2014/main" xmlns="" id="{BCFDA37B-399A-B9F0-7A7D-2A891EB7FFA6}"/>
              </a:ext>
            </a:extLst>
          </p:cNvPr>
          <p:cNvSpPr>
            <a:spLocks noGrp="1"/>
          </p:cNvSpPr>
          <p:nvPr>
            <p:ph sz="quarter" idx="10"/>
          </p:nvPr>
        </p:nvSpPr>
        <p:spPr>
          <a:xfrm>
            <a:off x="914400" y="2039112"/>
            <a:ext cx="7150608" cy="3356576"/>
          </a:xfrm>
        </p:spPr>
        <p:txBody>
          <a:bodyPr>
            <a:normAutofit lnSpcReduction="10000"/>
          </a:bodyPr>
          <a:lstStyle/>
          <a:p>
            <a:r>
              <a:rPr lang="en-GB" dirty="0"/>
              <a:t>The creation of our chatbot was based on the purpose of the Chatbot -Knowledge Check for AWS S3.</a:t>
            </a:r>
            <a:endParaRPr lang="en-ZA" dirty="0"/>
          </a:p>
          <a:p>
            <a:r>
              <a:rPr lang="en-GB" dirty="0"/>
              <a:t>The Main purpose of the Chatbot is to assist learners/workers in doing knowledge checks , in our scenario it is test the knowledge of the AWS S3 as a whole.  </a:t>
            </a:r>
            <a:endParaRPr lang="en-ZA" dirty="0"/>
          </a:p>
          <a:p>
            <a:r>
              <a:rPr lang="en-ZA" dirty="0"/>
              <a:t>Building an Amazon Lex chatbot often involves using AWS Lambda as a backend for handling business logic, data validation, and interaction with other AWS services or third-party APIs. The overall process includes designing the bot's conversation flow, defining intents and slots in Lex, and implementing the logic in a Lambda function  </a:t>
            </a:r>
          </a:p>
          <a:p>
            <a:pPr marL="0" indent="0">
              <a:buNone/>
            </a:pPr>
            <a:endParaRPr lang="en-US" dirty="0"/>
          </a:p>
        </p:txBody>
      </p:sp>
      <p:sp>
        <p:nvSpPr>
          <p:cNvPr id="3" name="Slide Number Placeholder 2">
            <a:extLst>
              <a:ext uri="{FF2B5EF4-FFF2-40B4-BE49-F238E27FC236}">
                <a16:creationId xmlns:a16="http://schemas.microsoft.com/office/drawing/2014/main" xmlns=""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19669132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xmlns="" id="{2A3D95EF-8A67-7F71-37EF-9EB02511B163}"/>
              </a:ext>
            </a:extLst>
          </p:cNvPr>
          <p:cNvSpPr>
            <a:spLocks noGrp="1"/>
          </p:cNvSpPr>
          <p:nvPr>
            <p:ph type="title"/>
          </p:nvPr>
        </p:nvSpPr>
        <p:spPr>
          <a:xfrm>
            <a:off x="914400" y="914400"/>
            <a:ext cx="10360152" cy="2843784"/>
          </a:xfrm>
        </p:spPr>
        <p:txBody>
          <a:bodyPr anchor="b"/>
          <a:lstStyle/>
          <a:p>
            <a:r>
              <a:rPr lang="en-ZA" b="1" dirty="0"/>
              <a:t>Key Components</a:t>
            </a:r>
            <a:r>
              <a:rPr lang="en-ZA" dirty="0"/>
              <a:t/>
            </a:r>
            <a:br>
              <a:rPr lang="en-ZA" dirty="0"/>
            </a:br>
            <a:endParaRPr lang="en-US" dirty="0"/>
          </a:p>
        </p:txBody>
      </p:sp>
      <p:sp>
        <p:nvSpPr>
          <p:cNvPr id="15" name="Text Placeholder 14">
            <a:extLst>
              <a:ext uri="{FF2B5EF4-FFF2-40B4-BE49-F238E27FC236}">
                <a16:creationId xmlns:a16="http://schemas.microsoft.com/office/drawing/2014/main" xmlns="" id="{C7846849-DC0A-EE3B-2E5E-D669EC1273D6}"/>
              </a:ext>
            </a:extLst>
          </p:cNvPr>
          <p:cNvSpPr>
            <a:spLocks noGrp="1"/>
          </p:cNvSpPr>
          <p:nvPr>
            <p:ph type="body" sz="quarter" idx="13"/>
          </p:nvPr>
        </p:nvSpPr>
        <p:spPr>
          <a:xfrm>
            <a:off x="2041114" y="3435927"/>
            <a:ext cx="8109772" cy="3325091"/>
          </a:xfrm>
        </p:spPr>
        <p:txBody>
          <a:bodyPr>
            <a:normAutofit/>
          </a:bodyPr>
          <a:lstStyle/>
          <a:p>
            <a:pPr marL="457200" lvl="2" indent="0">
              <a:buNone/>
            </a:pPr>
            <a:endParaRPr lang="en-ZA" b="1" dirty="0" smtClean="0"/>
          </a:p>
          <a:p>
            <a:pPr marL="457200" lvl="2" indent="0">
              <a:buNone/>
            </a:pPr>
            <a:endParaRPr lang="en-ZA" b="1" dirty="0"/>
          </a:p>
          <a:p>
            <a:pPr marL="800100" lvl="2" indent="-342900">
              <a:buFont typeface="Wingdings" panose="05000000000000000000" pitchFamily="2" charset="2"/>
              <a:buChar char="v"/>
            </a:pPr>
            <a:r>
              <a:rPr lang="en-ZA" b="1" dirty="0" smtClean="0"/>
              <a:t>Amazon </a:t>
            </a:r>
            <a:r>
              <a:rPr lang="en-ZA" b="1" dirty="0"/>
              <a:t>Lex:</a:t>
            </a:r>
            <a:r>
              <a:rPr lang="en-ZA" dirty="0"/>
              <a:t> The service for building conversational interfaces using voice and text. It provides the natural language understanding (NLU) capabilities to understand user intent</a:t>
            </a:r>
            <a:r>
              <a:rPr lang="en-ZA" dirty="0" smtClean="0"/>
              <a:t>.</a:t>
            </a:r>
          </a:p>
          <a:p>
            <a:pPr lvl="2" indent="-685800">
              <a:buFont typeface="Wingdings" panose="05000000000000000000" pitchFamily="2" charset="2"/>
              <a:buChar char="v"/>
            </a:pPr>
            <a:endParaRPr lang="en-ZA" dirty="0"/>
          </a:p>
          <a:p>
            <a:pPr marL="457200" lvl="2" indent="0">
              <a:buNone/>
            </a:pPr>
            <a:endParaRPr lang="en-ZA" dirty="0"/>
          </a:p>
          <a:p>
            <a:pPr lvl="0">
              <a:buFont typeface="Wingdings" panose="05000000000000000000" pitchFamily="2" charset="2"/>
              <a:buChar char="v"/>
            </a:pPr>
            <a:r>
              <a:rPr lang="en-ZA" sz="2000" b="1" dirty="0"/>
              <a:t>AWS Lambda:</a:t>
            </a:r>
            <a:r>
              <a:rPr lang="en-ZA" sz="2000" dirty="0"/>
              <a:t> The serverless compute service that runs your code in response to events and handles the dynamic functionality of the chatbot [1]. </a:t>
            </a:r>
          </a:p>
          <a:p>
            <a:endParaRPr lang="en-US" sz="2000" dirty="0"/>
          </a:p>
        </p:txBody>
      </p:sp>
    </p:spTree>
    <p:extLst>
      <p:ext uri="{BB962C8B-B14F-4D97-AF65-F5344CB8AC3E}">
        <p14:creationId xmlns:p14="http://schemas.microsoft.com/office/powerpoint/2010/main" val="10967174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xmlns="" id="{949404F1-8E94-7D3D-71E2-A1A4B7CBCB4A}"/>
              </a:ext>
            </a:extLst>
          </p:cNvPr>
          <p:cNvSpPr>
            <a:spLocks noGrp="1"/>
          </p:cNvSpPr>
          <p:nvPr>
            <p:ph type="title"/>
          </p:nvPr>
        </p:nvSpPr>
        <p:spPr>
          <a:xfrm>
            <a:off x="993648" y="484633"/>
            <a:ext cx="10360152" cy="914400"/>
          </a:xfrm>
        </p:spPr>
        <p:txBody>
          <a:bodyPr/>
          <a:lstStyle/>
          <a:p>
            <a:r>
              <a:rPr lang="en-ZA" b="1" dirty="0"/>
              <a:t>General Workflow</a:t>
            </a:r>
            <a:r>
              <a:rPr lang="en-ZA" dirty="0"/>
              <a:t/>
            </a:r>
            <a:br>
              <a:rPr lang="en-ZA" dirty="0"/>
            </a:br>
            <a:endParaRPr lang="en-US" dirty="0"/>
          </a:p>
        </p:txBody>
      </p:sp>
      <p:sp>
        <p:nvSpPr>
          <p:cNvPr id="14" name="Content Placeholder 13">
            <a:extLst>
              <a:ext uri="{FF2B5EF4-FFF2-40B4-BE49-F238E27FC236}">
                <a16:creationId xmlns:a16="http://schemas.microsoft.com/office/drawing/2014/main" xmlns="" id="{F4A3718F-D67C-255A-4B64-BA379609FCD0}"/>
              </a:ext>
            </a:extLst>
          </p:cNvPr>
          <p:cNvSpPr>
            <a:spLocks noGrp="1"/>
          </p:cNvSpPr>
          <p:nvPr>
            <p:ph sz="quarter" idx="11"/>
          </p:nvPr>
        </p:nvSpPr>
        <p:spPr>
          <a:xfrm>
            <a:off x="417094" y="1106905"/>
            <a:ext cx="10936706" cy="4772899"/>
          </a:xfrm>
        </p:spPr>
        <p:txBody>
          <a:bodyPr>
            <a:normAutofit/>
          </a:bodyPr>
          <a:lstStyle/>
          <a:p>
            <a:pPr lvl="0"/>
            <a:r>
              <a:rPr lang="en-ZA" b="1" dirty="0"/>
              <a:t>Define the Conversation:</a:t>
            </a:r>
            <a:r>
              <a:rPr lang="en-ZA" dirty="0"/>
              <a:t> Determine what the bot should do. For example, order a pizza, book a hotel, or answer FAQs [1].</a:t>
            </a:r>
          </a:p>
          <a:p>
            <a:pPr lvl="0"/>
            <a:r>
              <a:rPr lang="en-ZA" b="1" dirty="0"/>
              <a:t>Create Intents and Slots in Lex:</a:t>
            </a:r>
            <a:endParaRPr lang="en-ZA" dirty="0"/>
          </a:p>
          <a:p>
            <a:pPr lvl="1"/>
            <a:r>
              <a:rPr lang="en-ZA" b="1" dirty="0"/>
              <a:t>Intents</a:t>
            </a:r>
            <a:r>
              <a:rPr lang="en-ZA" dirty="0"/>
              <a:t> represent the goal the user wants to achieve (e.g., Order a pizza, Our chatbot is for knowledge checks)</a:t>
            </a:r>
          </a:p>
          <a:p>
            <a:pPr lvl="1"/>
            <a:r>
              <a:rPr lang="en-ZA" b="1" dirty="0"/>
              <a:t>Slots</a:t>
            </a:r>
            <a:r>
              <a:rPr lang="en-ZA" dirty="0"/>
              <a:t> are the parameters needed to fulfil the intent (</a:t>
            </a:r>
            <a:r>
              <a:rPr lang="en-ZA" dirty="0" err="1"/>
              <a:t>e.g</a:t>
            </a:r>
            <a:r>
              <a:rPr lang="en-ZA" dirty="0"/>
              <a:t> A level is used to gauge)</a:t>
            </a:r>
          </a:p>
          <a:p>
            <a:pPr lvl="0"/>
            <a:r>
              <a:rPr lang="en-ZA" b="1" dirty="0"/>
              <a:t>Create a Lambda Function.</a:t>
            </a:r>
            <a:endParaRPr lang="en-ZA" dirty="0"/>
          </a:p>
          <a:p>
            <a:pPr lvl="1"/>
            <a:r>
              <a:rPr lang="en-ZA" dirty="0"/>
              <a:t>We Wrote Python, Node.js, or other supported language code in a Lambda function to perform validation and fulfilment.</a:t>
            </a:r>
          </a:p>
          <a:p>
            <a:pPr lvl="1"/>
            <a:r>
              <a:rPr lang="en-ZA" dirty="0"/>
              <a:t>This function receives the user's input and bot state from Lex, processes the information, and sends a response back to Lex .</a:t>
            </a:r>
          </a:p>
          <a:p>
            <a:endParaRPr lang="en-US" dirty="0"/>
          </a:p>
        </p:txBody>
      </p:sp>
      <p:sp>
        <p:nvSpPr>
          <p:cNvPr id="2" name="Slide Number Placeholder 1">
            <a:extLst>
              <a:ext uri="{FF2B5EF4-FFF2-40B4-BE49-F238E27FC236}">
                <a16:creationId xmlns:a16="http://schemas.microsoft.com/office/drawing/2014/main" xmlns=""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42301069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xmlns="" id="{7A49C0DA-C8AE-5ECC-149A-D60ECFF8C1EB}"/>
              </a:ext>
            </a:extLst>
          </p:cNvPr>
          <p:cNvSpPr>
            <a:spLocks noGrp="1"/>
          </p:cNvSpPr>
          <p:nvPr>
            <p:ph type="title"/>
          </p:nvPr>
        </p:nvSpPr>
        <p:spPr>
          <a:xfrm>
            <a:off x="914400" y="312822"/>
            <a:ext cx="10360152" cy="1034715"/>
          </a:xfrm>
        </p:spPr>
        <p:txBody>
          <a:bodyPr/>
          <a:lstStyle/>
          <a:p>
            <a:r>
              <a:rPr lang="en-ZA" b="1" dirty="0"/>
              <a:t>Configure Lex to Use Lambda:</a:t>
            </a:r>
            <a:r>
              <a:rPr lang="en-ZA" dirty="0"/>
              <a:t/>
            </a:r>
            <a:br>
              <a:rPr lang="en-ZA" dirty="0"/>
            </a:br>
            <a:endParaRPr lang="en-US" dirty="0"/>
          </a:p>
        </p:txBody>
      </p:sp>
      <p:sp>
        <p:nvSpPr>
          <p:cNvPr id="25" name="Content Placeholder 24">
            <a:extLst>
              <a:ext uri="{FF2B5EF4-FFF2-40B4-BE49-F238E27FC236}">
                <a16:creationId xmlns:a16="http://schemas.microsoft.com/office/drawing/2014/main" xmlns="" id="{7798761A-B671-4825-623F-F4726F2BDF28}"/>
              </a:ext>
            </a:extLst>
          </p:cNvPr>
          <p:cNvSpPr>
            <a:spLocks noGrp="1"/>
          </p:cNvSpPr>
          <p:nvPr>
            <p:ph sz="quarter" idx="12"/>
          </p:nvPr>
        </p:nvSpPr>
        <p:spPr>
          <a:xfrm>
            <a:off x="914400" y="1491915"/>
            <a:ext cx="10367011" cy="5053263"/>
          </a:xfrm>
        </p:spPr>
        <p:txBody>
          <a:bodyPr/>
          <a:lstStyle/>
          <a:p>
            <a:pPr lvl="1"/>
            <a:r>
              <a:rPr lang="en-ZA" dirty="0"/>
              <a:t>In the Amazon Lex console, specify which Lambda function to use for validation/fulfilment of each intent [1]. You will grant Amazon Lex permission to invoke your Lambda function.</a:t>
            </a:r>
          </a:p>
          <a:p>
            <a:pPr marL="0" lvl="1" indent="0">
              <a:buNone/>
            </a:pPr>
            <a:endParaRPr lang="en-ZA" dirty="0"/>
          </a:p>
          <a:p>
            <a:pPr lvl="0"/>
            <a:r>
              <a:rPr lang="en-ZA" b="1" dirty="0"/>
              <a:t>Build, Test, and Deploy:</a:t>
            </a:r>
            <a:endParaRPr lang="en-ZA" dirty="0"/>
          </a:p>
          <a:p>
            <a:pPr lvl="1"/>
            <a:r>
              <a:rPr lang="en-ZA" dirty="0"/>
              <a:t>Build the bot in the Lex console.</a:t>
            </a:r>
          </a:p>
          <a:p>
            <a:pPr lvl="1"/>
            <a:r>
              <a:rPr lang="en-ZA" dirty="0"/>
              <a:t>Test the conversation flow.</a:t>
            </a:r>
          </a:p>
          <a:p>
            <a:pPr lvl="1"/>
            <a:r>
              <a:rPr lang="en-ZA" dirty="0"/>
              <a:t>Deploy the bot to a platform like Facebook Messenger, Slack, or a custom application using the Amazon Lex API. </a:t>
            </a:r>
          </a:p>
          <a:p>
            <a:pPr marL="0" lvl="1" indent="0">
              <a:buNone/>
            </a:pPr>
            <a:endParaRPr lang="en-ZA" dirty="0"/>
          </a:p>
          <a:p>
            <a:pPr lvl="1"/>
            <a:endParaRPr lang="en-ZA" dirty="0"/>
          </a:p>
          <a:p>
            <a:endParaRPr lang="en-US" dirty="0"/>
          </a:p>
        </p:txBody>
      </p:sp>
      <p:sp>
        <p:nvSpPr>
          <p:cNvPr id="5" name="Slide Number Placeholder 4">
            <a:extLst>
              <a:ext uri="{FF2B5EF4-FFF2-40B4-BE49-F238E27FC236}">
                <a16:creationId xmlns:a16="http://schemas.microsoft.com/office/drawing/2014/main" xmlns=""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748348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xmlns="" id="{7A49C0DA-C8AE-5ECC-149A-D60ECFF8C1EB}"/>
              </a:ext>
            </a:extLst>
          </p:cNvPr>
          <p:cNvSpPr>
            <a:spLocks noGrp="1"/>
          </p:cNvSpPr>
          <p:nvPr>
            <p:ph type="title"/>
          </p:nvPr>
        </p:nvSpPr>
        <p:spPr>
          <a:xfrm>
            <a:off x="914400" y="312822"/>
            <a:ext cx="10360152" cy="1034715"/>
          </a:xfrm>
        </p:spPr>
        <p:txBody>
          <a:bodyPr/>
          <a:lstStyle/>
          <a:p>
            <a:r>
              <a:rPr lang="en-ZA" b="1" dirty="0"/>
              <a:t>Configure Lex to Use Lambda:</a:t>
            </a:r>
            <a:r>
              <a:rPr lang="en-ZA" dirty="0"/>
              <a:t/>
            </a:r>
            <a:br>
              <a:rPr lang="en-ZA" dirty="0"/>
            </a:br>
            <a:endParaRPr lang="en-US" dirty="0"/>
          </a:p>
        </p:txBody>
      </p:sp>
      <p:sp>
        <p:nvSpPr>
          <p:cNvPr id="25" name="Content Placeholder 24">
            <a:extLst>
              <a:ext uri="{FF2B5EF4-FFF2-40B4-BE49-F238E27FC236}">
                <a16:creationId xmlns:a16="http://schemas.microsoft.com/office/drawing/2014/main" xmlns="" id="{7798761A-B671-4825-623F-F4726F2BDF28}"/>
              </a:ext>
            </a:extLst>
          </p:cNvPr>
          <p:cNvSpPr>
            <a:spLocks noGrp="1"/>
          </p:cNvSpPr>
          <p:nvPr>
            <p:ph sz="quarter" idx="12"/>
          </p:nvPr>
        </p:nvSpPr>
        <p:spPr>
          <a:xfrm>
            <a:off x="914400" y="1491915"/>
            <a:ext cx="10367011" cy="5053263"/>
          </a:xfrm>
        </p:spPr>
        <p:txBody>
          <a:bodyPr/>
          <a:lstStyle/>
          <a:p>
            <a:pPr lvl="1"/>
            <a:r>
              <a:rPr lang="en-ZA" dirty="0"/>
              <a:t>In the Amazon Lex console, specify which Lambda function to use for validation/fulfilment of each intent [1]. You will grant Amazon Lex permission to invoke your Lambda function.</a:t>
            </a:r>
          </a:p>
          <a:p>
            <a:pPr marL="0" lvl="1" indent="0">
              <a:buNone/>
            </a:pPr>
            <a:endParaRPr lang="en-ZA" dirty="0"/>
          </a:p>
          <a:p>
            <a:pPr lvl="0"/>
            <a:r>
              <a:rPr lang="en-ZA" b="1" dirty="0"/>
              <a:t>Build, Test, and Deploy:</a:t>
            </a:r>
            <a:endParaRPr lang="en-ZA" dirty="0"/>
          </a:p>
          <a:p>
            <a:pPr lvl="1"/>
            <a:r>
              <a:rPr lang="en-ZA" dirty="0"/>
              <a:t>Build the bot in the Lex console.</a:t>
            </a:r>
          </a:p>
          <a:p>
            <a:pPr lvl="1"/>
            <a:r>
              <a:rPr lang="en-ZA" dirty="0"/>
              <a:t>Test the conversation flow.</a:t>
            </a:r>
          </a:p>
          <a:p>
            <a:pPr lvl="1"/>
            <a:r>
              <a:rPr lang="en-ZA" dirty="0"/>
              <a:t>Deploy the bot to a platform like Facebook Messenger, Slack, or a custom application using the Amazon Lex API. </a:t>
            </a:r>
          </a:p>
          <a:p>
            <a:pPr marL="0" lvl="1" indent="0">
              <a:buNone/>
            </a:pPr>
            <a:endParaRPr lang="en-ZA" dirty="0"/>
          </a:p>
          <a:p>
            <a:pPr lvl="1"/>
            <a:endParaRPr lang="en-ZA" dirty="0"/>
          </a:p>
          <a:p>
            <a:endParaRPr lang="en-US" dirty="0"/>
          </a:p>
        </p:txBody>
      </p:sp>
      <p:sp>
        <p:nvSpPr>
          <p:cNvPr id="5" name="Slide Number Placeholder 4">
            <a:extLst>
              <a:ext uri="{FF2B5EF4-FFF2-40B4-BE49-F238E27FC236}">
                <a16:creationId xmlns:a16="http://schemas.microsoft.com/office/drawing/2014/main" xmlns=""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7880969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E95044F7-BD97-2FDE-4E33-A565BCF0EFEC}"/>
              </a:ext>
            </a:extLst>
          </p:cNvPr>
          <p:cNvSpPr>
            <a:spLocks noGrp="1"/>
          </p:cNvSpPr>
          <p:nvPr>
            <p:ph type="title"/>
          </p:nvPr>
        </p:nvSpPr>
        <p:spPr/>
        <p:txBody>
          <a:bodyPr/>
          <a:lstStyle/>
          <a:p>
            <a:r>
              <a:rPr lang="en-ZA" b="1" dirty="0"/>
              <a:t>Example Use Case</a:t>
            </a:r>
            <a:r>
              <a:rPr lang="en-ZA" dirty="0"/>
              <a:t/>
            </a:r>
            <a:br>
              <a:rPr lang="en-ZA" dirty="0"/>
            </a:br>
            <a:endParaRPr lang="en-US" dirty="0"/>
          </a:p>
        </p:txBody>
      </p:sp>
      <p:sp>
        <p:nvSpPr>
          <p:cNvPr id="3" name="Content Placeholder 2">
            <a:extLst>
              <a:ext uri="{FF2B5EF4-FFF2-40B4-BE49-F238E27FC236}">
                <a16:creationId xmlns:a16="http://schemas.microsoft.com/office/drawing/2014/main" xmlns="" id="{DE597F60-88E2-C430-D52B-6604405AD55C}"/>
              </a:ext>
            </a:extLst>
          </p:cNvPr>
          <p:cNvSpPr>
            <a:spLocks noGrp="1"/>
          </p:cNvSpPr>
          <p:nvPr>
            <p:ph sz="quarter" idx="12"/>
          </p:nvPr>
        </p:nvSpPr>
        <p:spPr>
          <a:xfrm>
            <a:off x="914399" y="1363579"/>
            <a:ext cx="7844590" cy="4580020"/>
          </a:xfrm>
        </p:spPr>
        <p:txBody>
          <a:bodyPr/>
          <a:lstStyle/>
          <a:p>
            <a:r>
              <a:rPr lang="en-ZA" dirty="0"/>
              <a:t>Consider a "AWS S3 Knowledge Checks" bot:</a:t>
            </a:r>
          </a:p>
          <a:p>
            <a:pPr lvl="0"/>
            <a:r>
              <a:rPr lang="en-ZA" b="1" dirty="0"/>
              <a:t>Intent:</a:t>
            </a:r>
            <a:r>
              <a:rPr lang="en-ZA" dirty="0"/>
              <a:t> Check Knowledge level</a:t>
            </a:r>
          </a:p>
          <a:p>
            <a:pPr lvl="0"/>
            <a:r>
              <a:rPr lang="en-ZA" b="1" dirty="0"/>
              <a:t>Slots:</a:t>
            </a:r>
            <a:r>
              <a:rPr lang="en-ZA" dirty="0"/>
              <a:t> Beginner, intermediate , Advanced.</a:t>
            </a:r>
          </a:p>
          <a:p>
            <a:pPr lvl="0"/>
            <a:r>
              <a:rPr lang="en-ZA" b="1" dirty="0"/>
              <a:t>Lambda Function Role:</a:t>
            </a:r>
            <a:endParaRPr lang="en-ZA" dirty="0"/>
          </a:p>
          <a:p>
            <a:pPr lvl="1"/>
            <a:r>
              <a:rPr lang="en-ZA" b="1" dirty="0"/>
              <a:t>Validation:</a:t>
            </a:r>
            <a:r>
              <a:rPr lang="en-ZA" dirty="0"/>
              <a:t> Check if the question is answered correctly. If not, the Lambda function tells Lex to prompt the user for a valid answer.</a:t>
            </a:r>
          </a:p>
          <a:p>
            <a:pPr lvl="1"/>
            <a:r>
              <a:rPr lang="en-ZA" b="1" dirty="0"/>
              <a:t>Fulfilment:</a:t>
            </a:r>
            <a:r>
              <a:rPr lang="en-ZA" dirty="0"/>
              <a:t> If level of answering is valid then the function calls a database or through the (answer)  API to confirm its correct or incorrect  and returns a confirmation message.</a:t>
            </a:r>
          </a:p>
          <a:p>
            <a:r>
              <a:rPr lang="en-ZA" dirty="0"/>
              <a:t>Using </a:t>
            </a:r>
            <a:r>
              <a:rPr lang="en-ZA" b="1" dirty="0"/>
              <a:t>Amazon Lex</a:t>
            </a:r>
            <a:r>
              <a:rPr lang="en-ZA" dirty="0"/>
              <a:t> and </a:t>
            </a:r>
            <a:r>
              <a:rPr lang="en-ZA" b="1" dirty="0"/>
              <a:t>AWS Lambda</a:t>
            </a:r>
            <a:r>
              <a:rPr lang="en-ZA" dirty="0"/>
              <a:t> for a skills check chatbot offers a highly </a:t>
            </a:r>
            <a:r>
              <a:rPr lang="en-ZA" b="1" dirty="0"/>
              <a:t>scalable, cost-effective, and efficient serverless solution</a:t>
            </a:r>
            <a:r>
              <a:rPr lang="en-ZA" dirty="0"/>
              <a:t> that leverages advanced conversational AI to handle dynamic, real-time interactions and custom business logic. </a:t>
            </a:r>
          </a:p>
          <a:p>
            <a:endParaRPr lang="en-US" dirty="0"/>
          </a:p>
        </p:txBody>
      </p:sp>
    </p:spTree>
    <p:extLst>
      <p:ext uri="{BB962C8B-B14F-4D97-AF65-F5344CB8AC3E}">
        <p14:creationId xmlns:p14="http://schemas.microsoft.com/office/powerpoint/2010/main" val="8599098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xmlns="" id="{96E3FD31-D19A-BFEB-821F-C00103830DC9}"/>
              </a:ext>
            </a:extLst>
          </p:cNvPr>
          <p:cNvSpPr>
            <a:spLocks noGrp="1"/>
          </p:cNvSpPr>
          <p:nvPr>
            <p:ph type="title"/>
          </p:nvPr>
        </p:nvSpPr>
        <p:spPr/>
        <p:txBody>
          <a:bodyPr/>
          <a:lstStyle/>
          <a:p>
            <a:r>
              <a:rPr lang="en-ZA" b="1" dirty="0"/>
              <a:t>Benefits of Amazon Lex</a:t>
            </a:r>
            <a:r>
              <a:rPr lang="en-ZA" dirty="0"/>
              <a:t/>
            </a:r>
            <a:br>
              <a:rPr lang="en-ZA" dirty="0"/>
            </a:br>
            <a:endParaRPr lang="en-US" dirty="0"/>
          </a:p>
        </p:txBody>
      </p:sp>
      <p:sp>
        <p:nvSpPr>
          <p:cNvPr id="3" name="Content Placeholder 2">
            <a:extLst>
              <a:ext uri="{FF2B5EF4-FFF2-40B4-BE49-F238E27FC236}">
                <a16:creationId xmlns:a16="http://schemas.microsoft.com/office/drawing/2014/main" xmlns="" id="{CF3ADB94-FC21-07C5-1FC9-E729C5DEDFC6}"/>
              </a:ext>
            </a:extLst>
          </p:cNvPr>
          <p:cNvSpPr>
            <a:spLocks noGrp="1"/>
          </p:cNvSpPr>
          <p:nvPr>
            <p:ph sz="quarter" idx="12"/>
          </p:nvPr>
        </p:nvSpPr>
        <p:spPr>
          <a:xfrm>
            <a:off x="914398" y="1636295"/>
            <a:ext cx="10439401" cy="4860758"/>
          </a:xfrm>
        </p:spPr>
        <p:txBody>
          <a:bodyPr>
            <a:normAutofit fontScale="92500" lnSpcReduction="10000"/>
          </a:bodyPr>
          <a:lstStyle/>
          <a:p>
            <a:pPr marL="342900" lvl="0" indent="-342900">
              <a:buFont typeface="Wingdings" panose="05000000000000000000" pitchFamily="2" charset="2"/>
              <a:buChar char="v"/>
            </a:pPr>
            <a:r>
              <a:rPr lang="en-ZA" b="1" dirty="0"/>
              <a:t>Natural Language Understanding (NLU) and Automatic Speech Recognition (ASR):</a:t>
            </a:r>
            <a:r>
              <a:rPr lang="en-ZA" dirty="0"/>
              <a:t> Amazon Lex is powered by the same deep learning technologies as Alexa, allowing it to accurately interpret user intent and convert spoken language to text, providing a natural, human-like conversational experience.</a:t>
            </a:r>
          </a:p>
          <a:p>
            <a:pPr marL="342900" lvl="0" indent="-342900">
              <a:buFont typeface="Wingdings" panose="05000000000000000000" pitchFamily="2" charset="2"/>
              <a:buChar char="v"/>
            </a:pPr>
            <a:r>
              <a:rPr lang="en-ZA" b="1" dirty="0"/>
              <a:t>Multi-turn Conversations and Context Management:</a:t>
            </a:r>
            <a:r>
              <a:rPr lang="en-ZA" dirty="0"/>
              <a:t> The service naturally manages conversation context and guides the user through multi-turn dialogues to collect necessary information (slots) for a task, such as asking relevant follow-up questions during a skills assessment.</a:t>
            </a:r>
          </a:p>
          <a:p>
            <a:pPr marL="342900" lvl="0" indent="-342900">
              <a:buFont typeface="Wingdings" panose="05000000000000000000" pitchFamily="2" charset="2"/>
              <a:buChar char="v"/>
            </a:pPr>
            <a:r>
              <a:rPr lang="en-ZA" b="1" dirty="0"/>
              <a:t>Ease of Use &amp; Visual Builder:</a:t>
            </a:r>
            <a:r>
              <a:rPr lang="en-ZA" dirty="0"/>
              <a:t> Developers can quickly build, test, and deploy bots using an intuitive console and a no-code visual conversation builder, reducing development time and complexity.</a:t>
            </a:r>
          </a:p>
          <a:p>
            <a:pPr marL="342900" lvl="0" indent="-342900">
              <a:buFont typeface="Wingdings" panose="05000000000000000000" pitchFamily="2" charset="2"/>
              <a:buChar char="v"/>
            </a:pPr>
            <a:r>
              <a:rPr lang="en-ZA" b="1" dirty="0"/>
              <a:t>Seamless Multi-Platform Deployment:</a:t>
            </a:r>
            <a:r>
              <a:rPr lang="en-ZA" dirty="0"/>
              <a:t> Chatbots can be easily published across various platforms with one click, including web applications, mobile apps, and messaging services like Slack or Facebook Messenger, reaching users wherever they are.</a:t>
            </a:r>
          </a:p>
          <a:p>
            <a:pPr marL="342900" lvl="0" indent="-342900">
              <a:buFont typeface="Wingdings" panose="05000000000000000000" pitchFamily="2" charset="2"/>
              <a:buChar char="v"/>
            </a:pPr>
            <a:r>
              <a:rPr lang="en-ZA" b="1" dirty="0"/>
              <a:t>Generative AI Enhancements:</a:t>
            </a:r>
            <a:r>
              <a:rPr lang="en-ZA" dirty="0"/>
              <a:t> Lex can leverage large language models (LLMs) via Amazon Bedrock to provide conversational answers from a knowledge base, enhancing the bot's ability to answer a wide range of skill-related questions. </a:t>
            </a:r>
          </a:p>
          <a:p>
            <a:endParaRPr lang="en-US" dirty="0"/>
          </a:p>
        </p:txBody>
      </p:sp>
      <p:sp>
        <p:nvSpPr>
          <p:cNvPr id="5" name="Slide Number Placeholder 4">
            <a:extLst>
              <a:ext uri="{FF2B5EF4-FFF2-40B4-BE49-F238E27FC236}">
                <a16:creationId xmlns:a16="http://schemas.microsoft.com/office/drawing/2014/main" xmlns=""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5378095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475FD8-6951-10FC-341F-6053A8EA1F80}"/>
              </a:ext>
            </a:extLst>
          </p:cNvPr>
          <p:cNvSpPr>
            <a:spLocks noGrp="1"/>
          </p:cNvSpPr>
          <p:nvPr>
            <p:ph type="title"/>
          </p:nvPr>
        </p:nvSpPr>
        <p:spPr/>
        <p:txBody>
          <a:bodyPr/>
          <a:lstStyle/>
          <a:p>
            <a:r>
              <a:rPr lang="en-ZA" b="1" dirty="0"/>
              <a:t>Benefits of AWS Lambda</a:t>
            </a:r>
            <a:r>
              <a:rPr lang="en-ZA" dirty="0"/>
              <a:t/>
            </a:r>
            <a:br>
              <a:rPr lang="en-ZA" dirty="0"/>
            </a:br>
            <a:endParaRPr lang="en-ZA" dirty="0"/>
          </a:p>
        </p:txBody>
      </p:sp>
      <p:sp>
        <p:nvSpPr>
          <p:cNvPr id="4" name="Content Placeholder 3">
            <a:extLst>
              <a:ext uri="{FF2B5EF4-FFF2-40B4-BE49-F238E27FC236}">
                <a16:creationId xmlns:a16="http://schemas.microsoft.com/office/drawing/2014/main" xmlns="" id="{BB7BC042-05A5-4844-A00D-90324DD6BFCE}"/>
              </a:ext>
            </a:extLst>
          </p:cNvPr>
          <p:cNvSpPr>
            <a:spLocks noGrp="1"/>
          </p:cNvSpPr>
          <p:nvPr>
            <p:ph sz="quarter" idx="13"/>
          </p:nvPr>
        </p:nvSpPr>
        <p:spPr>
          <a:xfrm>
            <a:off x="914400" y="1395663"/>
            <a:ext cx="10132840" cy="4483928"/>
          </a:xfrm>
        </p:spPr>
        <p:txBody>
          <a:bodyPr>
            <a:normAutofit lnSpcReduction="10000"/>
          </a:bodyPr>
          <a:lstStyle/>
          <a:p>
            <a:pPr lvl="0"/>
            <a:r>
              <a:rPr lang="en-ZA" b="1" dirty="0"/>
              <a:t>Serverless Architecture:</a:t>
            </a:r>
            <a:r>
              <a:rPr lang="en-ZA" dirty="0"/>
              <a:t> AWS Lambda runs code without provisioning or managing servers. This eliminates operational overhead and allows developers to focus purely on the business logic of the skills check.</a:t>
            </a:r>
          </a:p>
          <a:p>
            <a:pPr lvl="0"/>
            <a:r>
              <a:rPr lang="en-ZA" b="1" dirty="0"/>
              <a:t>Automatic Scaling:</a:t>
            </a:r>
            <a:r>
              <a:rPr lang="en-ZA" dirty="0"/>
              <a:t> Lambda automatically scales up or down based on demand, handling high volumes of simultaneous requests during peak usage without manual intervention. You only pay for the actual compute time consumed, making it highly cost-effective.</a:t>
            </a:r>
          </a:p>
          <a:p>
            <a:pPr lvl="0"/>
            <a:r>
              <a:rPr lang="en-ZA" b="1" dirty="0"/>
              <a:t>Dynamic Backend Processing:</a:t>
            </a:r>
            <a:r>
              <a:rPr lang="en-ZA" dirty="0"/>
              <a:t> Lambda functions are used to execute the custom logic for the skills check. This includes validating user inputs, retrieving specific skill-related data from databases (like Amazon DynamoDB or Amazon RDS), interacting with external APIs (e.g., a talent management system), and generating dynamic, personalized responses.</a:t>
            </a:r>
          </a:p>
          <a:p>
            <a:pPr lvl="0"/>
            <a:r>
              <a:rPr lang="en-ZA" b="1" dirty="0"/>
              <a:t>Seamless Integration:</a:t>
            </a:r>
            <a:r>
              <a:rPr lang="en-ZA" dirty="0"/>
              <a:t> Lambda integrates natively with Amazon Lex and a wide array of other AWS services (e.g., S3 for storage, CloudWatch for monitoring, Amazon Connect for call </a:t>
            </a:r>
            <a:r>
              <a:rPr lang="en-ZA" dirty="0" err="1"/>
              <a:t>center</a:t>
            </a:r>
            <a:r>
              <a:rPr lang="en-ZA" dirty="0"/>
              <a:t> integration), enabling a robust and comprehensive solution. </a:t>
            </a:r>
          </a:p>
          <a:p>
            <a:endParaRPr lang="en-ZA" dirty="0"/>
          </a:p>
        </p:txBody>
      </p:sp>
      <p:sp>
        <p:nvSpPr>
          <p:cNvPr id="5" name="Slide Number Placeholder 4">
            <a:extLst>
              <a:ext uri="{FF2B5EF4-FFF2-40B4-BE49-F238E27FC236}">
                <a16:creationId xmlns:a16="http://schemas.microsoft.com/office/drawing/2014/main" xmlns="" id="{44309D9B-19D7-5741-D5E5-D2B02B91DD1F}"/>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3307747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E6CC38-B460-9450-F5B4-937BC29FEA0C}"/>
              </a:ext>
            </a:extLst>
          </p:cNvPr>
          <p:cNvSpPr>
            <a:spLocks noGrp="1"/>
          </p:cNvSpPr>
          <p:nvPr>
            <p:ph type="title"/>
          </p:nvPr>
        </p:nvSpPr>
        <p:spPr/>
        <p:txBody>
          <a:bodyPr/>
          <a:lstStyle/>
          <a:p>
            <a:r>
              <a:rPr lang="en-ZA" b="1" dirty="0"/>
              <a:t>Combined Benefits for a Skills Check Chatbot </a:t>
            </a:r>
            <a:r>
              <a:rPr lang="en-ZA" dirty="0"/>
              <a:t/>
            </a:r>
            <a:br>
              <a:rPr lang="en-ZA" dirty="0"/>
            </a:br>
            <a:endParaRPr lang="en-ZA" dirty="0"/>
          </a:p>
        </p:txBody>
      </p:sp>
      <p:sp>
        <p:nvSpPr>
          <p:cNvPr id="4" name="Content Placeholder 3">
            <a:extLst>
              <a:ext uri="{FF2B5EF4-FFF2-40B4-BE49-F238E27FC236}">
                <a16:creationId xmlns:a16="http://schemas.microsoft.com/office/drawing/2014/main" xmlns="" id="{37520DCF-B8D0-F842-169C-0AED30172AB6}"/>
              </a:ext>
            </a:extLst>
          </p:cNvPr>
          <p:cNvSpPr>
            <a:spLocks noGrp="1"/>
          </p:cNvSpPr>
          <p:nvPr>
            <p:ph sz="quarter" idx="13"/>
          </p:nvPr>
        </p:nvSpPr>
        <p:spPr>
          <a:xfrm>
            <a:off x="1203158" y="1411705"/>
            <a:ext cx="9844082" cy="4467886"/>
          </a:xfrm>
        </p:spPr>
        <p:txBody>
          <a:bodyPr>
            <a:normAutofit lnSpcReduction="10000"/>
          </a:bodyPr>
          <a:lstStyle/>
          <a:p>
            <a:r>
              <a:rPr lang="en-ZA" dirty="0"/>
              <a:t>The integration of Amazon Lex and AWS Lambda provides:</a:t>
            </a:r>
          </a:p>
          <a:p>
            <a:pPr lvl="0"/>
            <a:r>
              <a:rPr lang="en-ZA" b="1" dirty="0"/>
              <a:t>Intelligent Interaction and Processing:</a:t>
            </a:r>
            <a:r>
              <a:rPr lang="en-ZA" dirty="0"/>
              <a:t> Lex handles the natural language front-end, making the interaction intuitive for the user, while Lambda performs the complex, event-driven, backend processing and evaluation of skills.</a:t>
            </a:r>
          </a:p>
          <a:p>
            <a:pPr lvl="0"/>
            <a:r>
              <a:rPr lang="en-ZA" b="1" dirty="0"/>
              <a:t>Efficiency and Cost Optimization:</a:t>
            </a:r>
            <a:r>
              <a:rPr lang="en-ZA" dirty="0"/>
              <a:t> The pay-per-use models and serverless nature of both services ensure cost efficiency by only charging for what is used. This allows for the automation of repetitive skill assessments, freeing up human resources.</a:t>
            </a:r>
          </a:p>
          <a:p>
            <a:pPr lvl="0"/>
            <a:r>
              <a:rPr lang="en-ZA" b="1" dirty="0"/>
              <a:t>Flexibility and Customization:</a:t>
            </a:r>
            <a:r>
              <a:rPr lang="en-ZA" dirty="0"/>
              <a:t> This architecture enables highly customized and dynamic skill checks that can be easily updated and adapted to different job roles or requirements. </a:t>
            </a:r>
          </a:p>
          <a:p>
            <a:r>
              <a:rPr lang="en-ZA" b="1" dirty="0"/>
              <a:t>Resources</a:t>
            </a:r>
            <a:endParaRPr lang="en-ZA" dirty="0"/>
          </a:p>
          <a:p>
            <a:r>
              <a:rPr lang="en-ZA" dirty="0"/>
              <a:t>You can find detailed documentation and tutorials on the official AWS Amazon Lex documentation page. You can also explore example projects in the AWS Lambda documentation to see how Lambda integrates with Lex. </a:t>
            </a:r>
            <a:endParaRPr lang="en-ZA" dirty="0" smtClean="0"/>
          </a:p>
          <a:p>
            <a:pPr marL="0" indent="0">
              <a:buNone/>
            </a:pPr>
            <a:endParaRPr lang="en-ZA" sz="2100" b="1" dirty="0"/>
          </a:p>
          <a:p>
            <a:endParaRPr lang="en-ZA" dirty="0"/>
          </a:p>
          <a:p>
            <a:endParaRPr lang="en-ZA" dirty="0"/>
          </a:p>
        </p:txBody>
      </p:sp>
      <p:sp>
        <p:nvSpPr>
          <p:cNvPr id="5" name="Slide Number Placeholder 4">
            <a:extLst>
              <a:ext uri="{FF2B5EF4-FFF2-40B4-BE49-F238E27FC236}">
                <a16:creationId xmlns:a16="http://schemas.microsoft.com/office/drawing/2014/main" xmlns="" id="{01FBEF65-C051-5E8D-3241-EAD584EFD26B}"/>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2086867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ZA" b="1" i="1" dirty="0">
                <a:effectLst>
                  <a:outerShdw blurRad="38100" dist="38100" dir="2700000" algn="tl">
                    <a:srgbClr val="000000">
                      <a:alpha val="43137"/>
                    </a:srgbClr>
                  </a:outerShdw>
                </a:effectLst>
              </a:rPr>
              <a:t>Conclusion</a:t>
            </a:r>
          </a:p>
        </p:txBody>
      </p:sp>
      <p:sp>
        <p:nvSpPr>
          <p:cNvPr id="5" name="Slide Number Placeholder 4"/>
          <p:cNvSpPr>
            <a:spLocks noGrp="1"/>
          </p:cNvSpPr>
          <p:nvPr>
            <p:ph type="sldNum" sz="quarter" idx="4"/>
          </p:nvPr>
        </p:nvSpPr>
        <p:spPr/>
        <p:txBody>
          <a:bodyPr/>
          <a:lstStyle/>
          <a:p>
            <a:fld id="{58FB4751-880F-D840-AAA9-3A15815CC996}" type="slidenum">
              <a:rPr lang="en-US" smtClean="0"/>
              <a:pPr/>
              <a:t>12</a:t>
            </a:fld>
            <a:endParaRPr lang="en-US" dirty="0"/>
          </a:p>
        </p:txBody>
      </p:sp>
      <p:sp>
        <p:nvSpPr>
          <p:cNvPr id="9" name="Rectangle 1"/>
          <p:cNvSpPr>
            <a:spLocks noGrp="1" noChangeArrowheads="1"/>
          </p:cNvSpPr>
          <p:nvPr>
            <p:ph sz="quarter" idx="10"/>
          </p:nvPr>
        </p:nvSpPr>
        <p:spPr bwMode="auto">
          <a:xfrm>
            <a:off x="609600" y="2381319"/>
            <a:ext cx="8520666"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kumimoji="0" lang="en-US" altLang="en-US" b="1" i="0" u="none" strike="noStrike" cap="none" normalizeH="0" baseline="0" dirty="0" smtClean="0">
                <a:ln>
                  <a:noFill/>
                </a:ln>
                <a:solidFill>
                  <a:schemeClr val="tx1"/>
                </a:solidFill>
                <a:effectLst/>
                <a:latin typeface="Arial" panose="020B0604020202020204" pitchFamily="34" charset="0"/>
              </a:rPr>
              <a:t>Summary:</a:t>
            </a:r>
            <a:r>
              <a:rPr kumimoji="0" lang="en-US" altLang="en-US" b="0" i="0" u="none" strike="noStrike" cap="none" normalizeH="0" baseline="0" dirty="0" smtClean="0">
                <a:ln>
                  <a:noFill/>
                </a:ln>
                <a:solidFill>
                  <a:schemeClr val="tx1"/>
                </a:solidFill>
                <a:effectLst/>
                <a:latin typeface="Arial" panose="020B0604020202020204" pitchFamily="34" charset="0"/>
              </a:rPr>
              <a:t> Lex + Lambda Chabot simplifies AWS S3 knowledge checks.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Impact:</a:t>
            </a:r>
            <a:r>
              <a:rPr kumimoji="0" lang="en-US" altLang="en-US" sz="1800" b="0" i="0" u="none" strike="noStrike" cap="none" normalizeH="0" baseline="0" dirty="0" smtClean="0">
                <a:ln>
                  <a:noFill/>
                </a:ln>
                <a:solidFill>
                  <a:schemeClr val="tx1"/>
                </a:solidFill>
                <a:effectLst/>
                <a:latin typeface="Arial" panose="020B0604020202020204" pitchFamily="34" charset="0"/>
              </a:rPr>
              <a:t> Scalable, cost-effective, interactive learning tool.</a:t>
            </a:r>
          </a:p>
        </p:txBody>
      </p:sp>
    </p:spTree>
    <p:extLst>
      <p:ext uri="{BB962C8B-B14F-4D97-AF65-F5344CB8AC3E}">
        <p14:creationId xmlns:p14="http://schemas.microsoft.com/office/powerpoint/2010/main" val="14471260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xmlns="" id="{C6DCC38C-603B-CCD0-2914-0BBCD4F4F74E}"/>
              </a:ext>
            </a:extLst>
          </p:cNvPr>
          <p:cNvSpPr>
            <a:spLocks noGrp="1"/>
          </p:cNvSpPr>
          <p:nvPr>
            <p:ph sz="quarter" idx="13"/>
          </p:nvPr>
        </p:nvSpPr>
        <p:spPr>
          <a:xfrm>
            <a:off x="6848856" y="914400"/>
            <a:ext cx="3867912" cy="5029200"/>
          </a:xfrm>
        </p:spPr>
        <p:txBody>
          <a:bodyPr anchor="ctr"/>
          <a:lstStyle/>
          <a:p>
            <a:r>
              <a:rPr lang="en-ZA" b="1" dirty="0" smtClean="0"/>
              <a:t> meet the Team</a:t>
            </a:r>
            <a:endParaRPr lang="en-ZA" b="1" dirty="0"/>
          </a:p>
          <a:p>
            <a:r>
              <a:rPr lang="en-ZA" dirty="0" err="1" smtClean="0"/>
              <a:t>Palesa</a:t>
            </a:r>
            <a:r>
              <a:rPr lang="en-ZA" dirty="0" smtClean="0"/>
              <a:t> – </a:t>
            </a:r>
            <a:r>
              <a:rPr lang="en-ZA" dirty="0"/>
              <a:t> Documentation &amp; Presentation</a:t>
            </a:r>
          </a:p>
          <a:p>
            <a:r>
              <a:rPr lang="en-ZA" dirty="0" err="1" smtClean="0"/>
              <a:t>Keketso</a:t>
            </a:r>
            <a:r>
              <a:rPr lang="en-ZA" dirty="0" smtClean="0"/>
              <a:t> – Lambda Integration</a:t>
            </a:r>
          </a:p>
          <a:p>
            <a:r>
              <a:rPr lang="en-ZA" dirty="0" err="1" smtClean="0"/>
              <a:t>Zwivhuya</a:t>
            </a:r>
            <a:r>
              <a:rPr lang="en-ZA" dirty="0" smtClean="0"/>
              <a:t> </a:t>
            </a:r>
            <a:r>
              <a:rPr lang="en-ZA" dirty="0"/>
              <a:t>– Testing &amp; QA</a:t>
            </a:r>
          </a:p>
          <a:p>
            <a:r>
              <a:rPr lang="en-ZA" dirty="0" err="1"/>
              <a:t>Ayabonga</a:t>
            </a:r>
            <a:r>
              <a:rPr lang="en-ZA" dirty="0"/>
              <a:t> – Architecture &amp; </a:t>
            </a:r>
            <a:r>
              <a:rPr lang="en-ZA" dirty="0" smtClean="0"/>
              <a:t>Deployment </a:t>
            </a:r>
            <a:endParaRPr lang="en-ZA" dirty="0"/>
          </a:p>
          <a:p>
            <a:r>
              <a:rPr lang="en-ZA" dirty="0" err="1"/>
              <a:t>Kazizwe</a:t>
            </a:r>
            <a:r>
              <a:rPr lang="en-ZA" dirty="0"/>
              <a:t> </a:t>
            </a:r>
            <a:r>
              <a:rPr lang="en-ZA" dirty="0" smtClean="0"/>
              <a:t>–Conversation </a:t>
            </a:r>
            <a:r>
              <a:rPr lang="en-ZA" dirty="0"/>
              <a:t>Design</a:t>
            </a:r>
          </a:p>
          <a:p>
            <a:endParaRPr lang="en-US" dirty="0"/>
          </a:p>
        </p:txBody>
      </p:sp>
    </p:spTree>
    <p:extLst>
      <p:ext uri="{BB962C8B-B14F-4D97-AF65-F5344CB8AC3E}">
        <p14:creationId xmlns:p14="http://schemas.microsoft.com/office/powerpoint/2010/main" val="2188828507"/>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documentManagement/types"/>
    <ds:schemaRef ds:uri="http://purl.org/dc/dcmitype/"/>
    <ds:schemaRef ds:uri="230e9df3-be65-4c73-a93b-d1236ebd677e"/>
    <ds:schemaRef ds:uri="http://purl.org/dc/elements/1.1/"/>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purl.org/dc/terms/"/>
    <ds:schemaRef ds:uri="16c05727-aa75-4e4a-9b5f-8a80a1165891"/>
    <ds:schemaRef ds:uri="71af3243-3dd4-4a8d-8c0d-dd76da1f02a5"/>
    <ds:schemaRef ds:uri="http://www.w3.org/XML/1998/namespac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{59E55DAB-B116-4330-B554-0C0346C04412}tf11964407_win32</Template>
  <TotalTime>72</TotalTime>
  <Words>451</Words>
  <Application>Microsoft Office PowerPoint</Application>
  <PresentationFormat>Widescreen</PresentationFormat>
  <Paragraphs>100</Paragraphs>
  <Slides>13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Courier New</vt:lpstr>
      <vt:lpstr>Gill Sans Light</vt:lpstr>
      <vt:lpstr>Gill Sans Nova Light</vt:lpstr>
      <vt:lpstr>Sagona Book</vt:lpstr>
      <vt:lpstr>Wingdings</vt:lpstr>
      <vt:lpstr>Custom</vt:lpstr>
      <vt:lpstr>AWS Chatbot-S3 “Interactive learning powered by Amazon Lex &amp; AWS Lambda” </vt:lpstr>
      <vt:lpstr>AWS –CHATBOT-S3</vt:lpstr>
      <vt:lpstr> Group 3.   Chatbot. Using AWS Amazon Lex and Lambda Services.</vt:lpstr>
      <vt:lpstr>Key Components </vt:lpstr>
      <vt:lpstr>General Workflow </vt:lpstr>
      <vt:lpstr>Configure Lex to Use Lambda: </vt:lpstr>
      <vt:lpstr>Configure Lex to Use Lambda: </vt:lpstr>
      <vt:lpstr>Example Use Case </vt:lpstr>
      <vt:lpstr>Benefits of Amazon Lex </vt:lpstr>
      <vt:lpstr>Benefits of AWS Lambda </vt:lpstr>
      <vt:lpstr>Combined Benefits for a Skills Check Chatbot  </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Chatbot-S3</dc:title>
  <dc:creator>27677203314</dc:creator>
  <cp:lastModifiedBy>Microsoft account</cp:lastModifiedBy>
  <cp:revision>7</cp:revision>
  <dcterms:created xsi:type="dcterms:W3CDTF">2025-12-17T20:16:39Z</dcterms:created>
  <dcterms:modified xsi:type="dcterms:W3CDTF">2025-12-17T21:35:30Z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