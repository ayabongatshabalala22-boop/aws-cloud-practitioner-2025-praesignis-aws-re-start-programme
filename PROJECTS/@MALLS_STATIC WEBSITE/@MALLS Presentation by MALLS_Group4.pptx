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62" r:id="rId3"/>
    <p:sldId id="263" r:id="rId4"/>
    <p:sldId id="257" r:id="rId5"/>
    <p:sldId id="265" r:id="rId6"/>
    <p:sldId id="264" r:id="rId7"/>
    <p:sldId id="266" r:id="rId8"/>
    <p:sldId id="270" r:id="rId9"/>
    <p:sldId id="269" r:id="rId10"/>
    <p:sldId id="267" r:id="rId11"/>
    <p:sldId id="268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28D2E-A0D9-4656-86D0-51E691D01423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750A4-7044-4CB4-BC4C-97CC8DADEEA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407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AB80-199D-1597-E21A-13D1A806CA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E6003-A3DC-F8FD-BDFC-9876084F1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7A90F-9D98-0132-4210-167704C1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1CB1E-1C36-8AF1-7CEE-715F4407F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9C0BB-5C0B-3246-3346-8D1B75D94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6344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7A10-4A93-B62F-15D8-4D5772777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0F591-0060-F983-A215-76AAA3818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EAE22-EBE8-718D-8543-E2C2D463D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FD1BF-059C-43FD-CA85-B2B4FB1B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6992A-8478-888F-2191-FCC36F96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9741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70AB-7A53-E6D5-395D-795147384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35C9B-787F-2198-3E5E-8AC2C5037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2740B-B0B2-3610-E5D7-D380DAF5D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F903F-A205-BAAE-CB29-3C39E5F50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A7646-8AFC-B32C-9280-2B06BA17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3398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D33FE-9087-B680-1FEF-20CA0BA6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B3B58-1A74-8A1A-E028-9528F2D83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C6BF27-1158-F997-7F8C-B84BC9276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F369B-4219-78D7-26EF-8889D0F1A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7A3A72-EBCC-BC6A-3AF9-48A761CF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D0FB87-FBFE-E8B1-B883-B3337C5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9808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0B3C1-C2B3-8602-39A9-DB5C26D51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C66B8-2059-0017-FC0C-BF5F2E69A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E5E96-27E9-7402-55A7-730440CE3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078D3-8C4A-3D67-343C-9DB623923C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63781D-ED29-88A0-C627-8E0C8D58E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0591D-1ECF-1569-5E18-720119A1A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A08BBC-66DB-1756-C3A0-A7E7C6EB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FF6E6D-C4B3-C50A-F8DF-41A87AA0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7484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317F5-CF8C-65FA-9801-E92779C34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AB6317-75FC-56DE-9B49-B1495871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3B3C8-BCD9-83DE-0D40-0720676C6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459B8-9D34-3F6B-3C87-8CB3E9CAC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142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53392D-79FB-0C97-DE55-EB5AE1C4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34241-3CE8-87C2-E826-BA6B56BC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84DAC-1BAA-7C77-95C0-C901C3901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0922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5D03C-BEE0-AE76-BF54-BBF64D611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C57D5-FA20-74E4-84AA-269ECC9CB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356BE0-762B-6263-56B0-F674AA0673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10906-5942-5D8A-E499-9BB65E2DA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5D793-7B8C-45CE-5B89-F589AD1C1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79BB4-9A73-E52E-0504-BDA5081D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8685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D6DAF-8DC7-1805-9A02-A1A2B240D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E84ACE-F88A-4DDF-19F1-8787CDB76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2C41B-14A8-8D84-B937-85FE8F3A45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94847E-A0A1-0E7D-9B61-4679EE21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F7FAF-48A2-C5AB-B633-F2BE0634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D3FDE-750D-208A-6EF2-885B02B0F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6771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93E8-7D5F-7A68-8850-C0A552C3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5FF218-3BED-0272-C436-E4E8C2E2A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5C602-3670-5BFC-CD72-4EA6C6D7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77802-F74D-F120-2C22-DD35ACCF4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342CB-305E-10B2-A1A3-22C43C15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6592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F48DF-5F0C-F5FA-77FF-A9E2FAD61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C28A4-96F2-5F60-C1D8-C55786777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BF437-3802-5B18-AC11-25CF00652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28A4C-DD8A-6841-8C49-1A1A5F1DF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A95BE-1AE0-B1F7-1EEE-0CDA2CC31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188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A74C9-07E8-7621-7111-A5128899A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12702-69F1-8174-94F3-AC316F640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4C264-8837-1927-ACD8-B2E698BB5D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20A580-6FA7-4CA7-BE68-8E79084A1D29}" type="datetimeFigureOut">
              <a:rPr lang="en-ZA" smtClean="0"/>
              <a:t>2025/11/12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E67FF-70A0-8688-A931-1050F094D8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2904C-71A4-DDF4-793D-F601F8D21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2E7B7-982E-4BE3-8F3E-6914FF9231A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1362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E659-FE03-49DC-49DE-A3A3551F4E99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</p:spPr>
        <p:txBody>
          <a:bodyPr wrap="square">
            <a:noAutofit/>
          </a:bodyPr>
          <a:lstStyle/>
          <a:p>
            <a:pPr algn="ctr"/>
            <a:r>
              <a:rPr lang="en-ZA" sz="4800" b="1" dirty="0"/>
              <a:t>@</a:t>
            </a:r>
            <a:r>
              <a:rPr lang="en-ZA" sz="4800" b="1" i="1" dirty="0"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a:rPr>
              <a:t>MALLS</a:t>
            </a:r>
            <a:br>
              <a:rPr lang="en-ZA" dirty="0"/>
            </a:br>
            <a:r>
              <a:rPr lang="en-ZA" i="1" dirty="0"/>
              <a:t>"Africa's finest roots”</a:t>
            </a:r>
            <a:endParaRPr lang="en-ZA" dirty="0"/>
          </a:p>
        </p:txBody>
      </p:sp>
      <p:pic>
        <p:nvPicPr>
          <p:cNvPr id="5" name="Content Placeholder 4" descr="A restaurant with tables and chairs&#10;&#10;AI-generated content may be incorrect.">
            <a:extLst>
              <a:ext uri="{FF2B5EF4-FFF2-40B4-BE49-F238E27FC236}">
                <a16:creationId xmlns:a16="http://schemas.microsoft.com/office/drawing/2014/main" id="{D9F8AE68-2E74-08DE-922B-C4306B68F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69" y="1867694"/>
            <a:ext cx="9806152" cy="4488656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1F6A9-DF4F-8009-ED60-164C95249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3345" y="6497586"/>
            <a:ext cx="4114800" cy="365125"/>
          </a:xfrm>
        </p:spPr>
        <p:txBody>
          <a:bodyPr/>
          <a:lstStyle/>
          <a:p>
            <a:r>
              <a:rPr lang="en-ZA" sz="3200" b="1" dirty="0"/>
              <a:t>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CF6AD-5C2E-7E55-FF4B-1714CD50E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5887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8591A-B939-0B2C-963A-5F6D454D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6412"/>
            <a:ext cx="10515600" cy="707923"/>
          </a:xfrm>
        </p:spPr>
        <p:txBody>
          <a:bodyPr>
            <a:normAutofit fontScale="90000"/>
          </a:bodyPr>
          <a:lstStyle/>
          <a:p>
            <a:pPr algn="ctr"/>
            <a:r>
              <a:rPr lang="en-ZA" sz="4000" b="1" dirty="0"/>
              <a:t>@MALLS is a celebrated local restaurant, famous for its authentic Southern African cuisine.</a:t>
            </a:r>
            <a:br>
              <a:rPr lang="en-ZA" dirty="0"/>
            </a:b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BC085-6658-4667-9DFC-E53C86BCC5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ZA" sz="2400" dirty="0"/>
              <a:t>Experiencing a massive surge in popularity, leading to a high volume of daily bookings and takeaway orders.</a:t>
            </a:r>
          </a:p>
          <a:p>
            <a:r>
              <a:rPr lang="en-ZA" sz="2400" dirty="0"/>
              <a:t>The restaurant is quickly becoming a local hotspot, putting a strain on its current operations.</a:t>
            </a:r>
          </a:p>
          <a:p>
            <a:r>
              <a:rPr lang="en-ZA" sz="2400" dirty="0"/>
              <a:t>Current system: All orders and bookings are managed manually using paper logs and basic spreadsheets.</a:t>
            </a:r>
          </a:p>
        </p:txBody>
      </p:sp>
      <p:pic>
        <p:nvPicPr>
          <p:cNvPr id="12" name="Content Placeholder 11" descr="A person talking on a cell phone in a restaurant&#10;&#10;AI-generated content may be incorrect.">
            <a:extLst>
              <a:ext uri="{FF2B5EF4-FFF2-40B4-BE49-F238E27FC236}">
                <a16:creationId xmlns:a16="http://schemas.microsoft.com/office/drawing/2014/main" id="{3BCA9AE4-033A-BC03-B8B9-AEA5914487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560" y="1690689"/>
            <a:ext cx="4220308" cy="4127308"/>
          </a:xfrm>
        </p:spPr>
      </p:pic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6C1CB1E-6108-F7C0-E76F-FEB12FDEC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z="2800" b="1" dirty="0"/>
              <a:t>Restaurant Overview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51D59CD-E197-8211-668E-3111B76AE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15508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F654C-E18D-D8E3-00EE-807E6256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A busy restaurant with a chaotic atmosphere</a:t>
            </a:r>
            <a:endParaRPr lang="en-ZA" b="1" dirty="0"/>
          </a:p>
        </p:txBody>
      </p:sp>
      <p:pic>
        <p:nvPicPr>
          <p:cNvPr id="6" name="Content Placeholder 5" descr="A collage of people in a restaurant&#10;&#10;AI-generated content may be incorrect.">
            <a:extLst>
              <a:ext uri="{FF2B5EF4-FFF2-40B4-BE49-F238E27FC236}">
                <a16:creationId xmlns:a16="http://schemas.microsoft.com/office/drawing/2014/main" id="{E7EBDB88-8C9F-AA64-03BE-3F64EB83C9B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825625"/>
            <a:ext cx="5181600" cy="453313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BDD6AF-F465-5C4D-731C-3A005DEC8A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Full tables with customers waiting.</a:t>
            </a:r>
          </a:p>
          <a:p>
            <a:r>
              <a:rPr lang="en-US" sz="2600" dirty="0"/>
              <a:t>Staff rushing to take orders and serve food.</a:t>
            </a:r>
          </a:p>
          <a:p>
            <a:r>
              <a:rPr lang="en-US" sz="2600" dirty="0"/>
              <a:t>Orders are getting mixed up Phone ringing constantly.</a:t>
            </a:r>
          </a:p>
          <a:p>
            <a:r>
              <a:rPr lang="en-ZA" sz="2600" dirty="0"/>
              <a:t>Manual entry leads to frequent errors </a:t>
            </a:r>
            <a:r>
              <a:rPr lang="en-US" sz="2600" dirty="0"/>
              <a:t>&amp; </a:t>
            </a:r>
            <a:r>
              <a:rPr lang="en-ZA" sz="2600" dirty="0"/>
              <a:t>double bookings</a:t>
            </a:r>
          </a:p>
          <a:p>
            <a:r>
              <a:rPr lang="en-ZA" sz="2600" dirty="0"/>
              <a:t>Incorrect takeaway orders, and customer confusion.</a:t>
            </a:r>
          </a:p>
          <a:p>
            <a:endParaRPr lang="en-ZA" sz="32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6D8E11-4EC7-0B1C-17CD-54B39E79A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771103" cy="365125"/>
          </a:xfrm>
        </p:spPr>
        <p:txBody>
          <a:bodyPr/>
          <a:lstStyle/>
          <a:p>
            <a:r>
              <a:rPr lang="en-ZA" sz="3200" b="1" dirty="0"/>
              <a:t>Restaurant Challenges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071C7C6-4125-987C-9F65-33332ACD4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327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991C6B3-6CEE-CB7E-2D0A-5899FB3EE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194" y="565606"/>
            <a:ext cx="10515600" cy="896828"/>
          </a:xfrm>
        </p:spPr>
        <p:txBody>
          <a:bodyPr>
            <a:normAutofit fontScale="90000"/>
          </a:bodyPr>
          <a:lstStyle/>
          <a:p>
            <a:pPr algn="ctr"/>
            <a:r>
              <a:rPr lang="en-ZA" dirty="0"/>
              <a:t>Operational Challenges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71153F8-97CD-5117-512E-C8BD0026C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194" y="1462435"/>
            <a:ext cx="10515600" cy="4918702"/>
          </a:xfrm>
        </p:spPr>
        <p:txBody>
          <a:bodyPr>
            <a:normAutofit fontScale="25000" lnSpcReduction="20000"/>
          </a:bodyPr>
          <a:lstStyle/>
          <a:p>
            <a:r>
              <a:rPr lang="en-ZA" sz="1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ZA" sz="11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Order &amp; Booking Mix-ups</a:t>
            </a:r>
          </a:p>
          <a:p>
            <a:r>
              <a:rPr lang="en-ZA" sz="1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Manual entry leads to frequent errors, double bookings, incorrect takeaway orders, and customer confusion.</a:t>
            </a:r>
          </a:p>
          <a:p>
            <a:r>
              <a:rPr lang="en-ZA" sz="1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</a:t>
            </a:r>
          </a:p>
          <a:p>
            <a:r>
              <a:rPr lang="en-ZA" sz="1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ZA" sz="11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 Centralized Data</a:t>
            </a:r>
          </a:p>
          <a:p>
            <a:r>
              <a:rPr lang="en-ZA" sz="1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Struggling to track customer preferences, manage the loyalty program, or identify repeat guests effectively.</a:t>
            </a:r>
          </a:p>
          <a:p>
            <a:r>
              <a:rPr lang="en-ZA" sz="1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 </a:t>
            </a:r>
          </a:p>
          <a:p>
            <a:r>
              <a:rPr lang="en-ZA" sz="1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ZA" sz="112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Difficult to Scale</a:t>
            </a:r>
          </a:p>
          <a:p>
            <a:r>
              <a:rPr lang="en-ZA" sz="1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Hiring more staff to manage paper logs is costly and doesn't solve the root problem. The system is at its breaking point.</a:t>
            </a:r>
          </a:p>
          <a:p>
            <a:endParaRPr lang="en-ZA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A98B99C-06E8-33FF-C3A5-FD43F9544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z="2800" b="1" dirty="0"/>
              <a:t>Challenges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7B43EFC-0A47-DD49-56C7-CE0674069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3025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850A7-FE3C-07D2-7D71-8AAE80E1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ZA" b="1" i="1" dirty="0"/>
              <a:t>The Solution: A New Digital Front-Door</a:t>
            </a:r>
            <a:br>
              <a:rPr lang="en-ZA" dirty="0"/>
            </a:br>
            <a:endParaRPr lang="en-ZA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95D52-602A-BB47-0273-9E638048C154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675446-D2CA-8431-F85F-198501639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ZA" sz="1800" b="1" dirty="0"/>
              <a:t>We have a simple, user-friendly website to streamline all customer interactions.</a:t>
            </a:r>
          </a:p>
          <a:p>
            <a:r>
              <a:rPr lang="en-ZA" sz="1800" dirty="0"/>
              <a:t>*   An easy-to-browse digital menu.</a:t>
            </a:r>
          </a:p>
          <a:p>
            <a:r>
              <a:rPr lang="en-ZA" sz="1800" dirty="0"/>
              <a:t>*   A simple form for dine-in reservations.</a:t>
            </a:r>
          </a:p>
          <a:p>
            <a:r>
              <a:rPr lang="en-ZA" sz="1800" dirty="0"/>
              <a:t>*   A clear form for placing takeaway orders.</a:t>
            </a:r>
          </a:p>
          <a:p>
            <a:r>
              <a:rPr lang="en-ZA" sz="1800" dirty="0"/>
              <a:t>*   A loyalty programme for our customers.</a:t>
            </a:r>
          </a:p>
          <a:p>
            <a:r>
              <a:rPr lang="en-ZA" sz="1800" dirty="0"/>
              <a:t>*    A map for our customers find us quicker.</a:t>
            </a:r>
          </a:p>
          <a:p>
            <a:endParaRPr lang="en-Z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91B3D-575A-DBDC-37F0-1A8D389D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z="3200" b="1"/>
              <a:t>Solution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BB7FD-6DCC-867E-85C6-2AE8BAC5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5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40987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9C826-F16B-D32B-F2FB-5765DAEE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7A9E8-35A8-6249-C3CC-299DE5E0610F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</a:gradFill>
        </p:spPr>
        <p:txBody>
          <a:bodyPr wrap="square">
            <a:noAutofit/>
          </a:bodyPr>
          <a:lstStyle/>
          <a:p>
            <a:pPr algn="ctr"/>
            <a:r>
              <a:rPr lang="en-ZA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Transformation for @MALLS</a:t>
            </a:r>
            <a:br>
              <a:rPr lang="en-ZA" dirty="0"/>
            </a:br>
            <a:r>
              <a:rPr lang="en-ZA" dirty="0"/>
              <a:t>Migrating to AWS for Growth &amp; Efficiency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53156-544D-A17F-B536-677700738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Scalability: AWS allows you to easily scale your website up or down to match changing traffic demands.</a:t>
            </a:r>
          </a:p>
          <a:p>
            <a:r>
              <a:rPr lang="en-US" dirty="0"/>
              <a:t>Reliability: AWS has a proven track record of uptime and availability, with multiple data centers worldwide.</a:t>
            </a:r>
          </a:p>
          <a:p>
            <a:r>
              <a:rPr lang="en-US" dirty="0"/>
              <a:t>Cost-effectiveness: AWS offers a pay-as-you-go pricing model, so you only pay for the resources you use. </a:t>
            </a:r>
          </a:p>
          <a:p>
            <a:r>
              <a:rPr lang="en-US" dirty="0"/>
              <a:t>Security: AWS provides robust security features, including encryption, firewalls, and access controls.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BAD62-44D4-1047-BDA7-C25265956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z="3200" b="1" dirty="0"/>
              <a:t>Migrating to AWS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87BAD-DD98-6320-FB5C-BB81CF2A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6676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5CEED-C67C-DFB6-3C5E-893EB77356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963"/>
            <a:ext cx="9144000" cy="1011237"/>
          </a:xfrm>
        </p:spPr>
        <p:txBody>
          <a:bodyPr/>
          <a:lstStyle/>
          <a:p>
            <a:r>
              <a:rPr lang="en-ZA" dirty="0"/>
              <a:t>Amazon S3: Website Hosting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B7B4A4-58F1-20BF-EE00-13D51B451F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94632"/>
            <a:ext cx="9144000" cy="3932774"/>
          </a:xfrm>
        </p:spPr>
        <p:txBody>
          <a:bodyPr/>
          <a:lstStyle/>
          <a:p>
            <a:pPr marL="342900" indent="-342900" algn="l">
              <a:buFontTx/>
              <a:buChar char="-"/>
            </a:pPr>
            <a:r>
              <a:rPr lang="en-US" dirty="0"/>
              <a:t>Static websites: S3 is a great fit for static websites, blogs, and portfolios.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Web applications: S3 can serve as a storage layer for web applications.</a:t>
            </a:r>
          </a:p>
          <a:p>
            <a:pPr marL="342900" indent="-342900" algn="l">
              <a:buFontTx/>
              <a:buChar char="-"/>
            </a:pPr>
            <a:r>
              <a:rPr lang="en-US" dirty="0"/>
              <a:t>Content delivery: S3 integrates with CloudFront for fast content delivery.</a:t>
            </a:r>
          </a:p>
          <a:p>
            <a:pPr marL="342900" indent="-342900" algn="l">
              <a:buFontTx/>
              <a:buChar char="-"/>
            </a:pPr>
            <a:r>
              <a:rPr lang="en-ZA" dirty="0"/>
              <a:t>S3 also acts as a highly durable and extremely low-cost "bucket" to store all restaurant images—menu photos, website graphics, and even promotional videos. All website assets are stored and served from one reliable source.</a:t>
            </a:r>
          </a:p>
          <a:p>
            <a:pPr marL="342900" indent="-342900" algn="l">
              <a:buFontTx/>
              <a:buChar char="-"/>
            </a:pPr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F6A98-B831-FAC6-546D-3DC5986A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z="2000" b="1" dirty="0"/>
              <a:t>Recommended AWS Service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3DE1A0-FA7B-1597-3EF3-2BE182BC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63647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0F7FDD-8D33-4F2D-F897-77864E2ABAFF}"/>
              </a:ext>
            </a:extLst>
          </p:cNvPr>
          <p:cNvSpPr txBox="1"/>
          <p:nvPr/>
        </p:nvSpPr>
        <p:spPr>
          <a:xfrm>
            <a:off x="3048000" y="804232"/>
            <a:ext cx="6096000" cy="5254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Proposed AWS Architecture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## A Simple, Powerful Architecture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 A customer visits the **@malls.co.za** domain name.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 **Amazon Route 53** (AWS's DNS service) directs the request to the correct location.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 The website, all images, and all files are served directly from the **Amazon S3 bucket** configured for static website hosting.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 **Future Upgrade:** We can easily add **Amazon CloudFront (CDN)** to make the website load instantly for customers anywhere in the world.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*(This slide would feature a simple diagram: [User] -&gt; [Route 53] -&gt; [S3 Bucket])*</a:t>
            </a:r>
          </a:p>
        </p:txBody>
      </p:sp>
    </p:spTree>
    <p:extLst>
      <p:ext uri="{BB962C8B-B14F-4D97-AF65-F5344CB8AC3E}">
        <p14:creationId xmlns:p14="http://schemas.microsoft.com/office/powerpoint/2010/main" val="2857621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73E13C-003D-1194-D9A6-ADCEB2136C3F}"/>
              </a:ext>
            </a:extLst>
          </p:cNvPr>
          <p:cNvSpPr txBox="1"/>
          <p:nvPr/>
        </p:nvSpPr>
        <p:spPr>
          <a:xfrm>
            <a:off x="3048000" y="1117395"/>
            <a:ext cx="6096000" cy="462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Benefits of Choosing AWS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   **Incredibly Low Cost:** You only pay for the storage you use and the data transferred. For a static site, this is often just a few dollars a month.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   **High Reliability (11 Nines):** S3 is designed for 99.999999999% durability. Your website will always be available and your data is safe.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   **Massive Scalability:** Whether 10 customers or 10,000 visit your site during a promotion, S3 handles the traffic automatically. No crashes, no slowdowns.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ZA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   **Simplicity &amp; Sustainability:** This is a "serverless" solution. No servers to patch or manage, reducing complexity and energy consumption.</a:t>
            </a:r>
          </a:p>
        </p:txBody>
      </p:sp>
    </p:spTree>
    <p:extLst>
      <p:ext uri="{BB962C8B-B14F-4D97-AF65-F5344CB8AC3E}">
        <p14:creationId xmlns:p14="http://schemas.microsoft.com/office/powerpoint/2010/main" val="502934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806A8-8DCF-F9AE-C8A0-1021B8DB34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55598"/>
          </a:xfrm>
        </p:spPr>
        <p:txBody>
          <a:bodyPr>
            <a:normAutofit/>
          </a:bodyPr>
          <a:lstStyle/>
          <a:p>
            <a:r>
              <a:rPr lang="en-ZA" sz="4000" b="1" dirty="0"/>
              <a:t>Cost Analysis: On-Premises vs. AWS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509AD-D70D-FA2D-114D-C7043A57E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77960"/>
            <a:ext cx="9144000" cy="4355691"/>
          </a:xfrm>
        </p:spPr>
        <p:txBody>
          <a:bodyPr>
            <a:normAutofit/>
          </a:bodyPr>
          <a:lstStyle/>
          <a:p>
            <a:r>
              <a:rPr lang="en-ZA" dirty="0"/>
              <a:t># $$$ - High Upfront &amp; Sunk Cost</a:t>
            </a:r>
          </a:p>
          <a:p>
            <a:r>
              <a:rPr lang="en-ZA" dirty="0"/>
              <a:t>Traditional hosting requires buying a physical server, paying for power, cooling, and maintenance, and over-provisioning for peak traffic you might not even use.</a:t>
            </a:r>
          </a:p>
          <a:p>
            <a:r>
              <a:rPr lang="en-ZA" dirty="0"/>
              <a:t> </a:t>
            </a:r>
          </a:p>
          <a:p>
            <a:r>
              <a:rPr lang="en-ZA" dirty="0"/>
              <a:t># $ - Pay-As-You-Go</a:t>
            </a:r>
          </a:p>
          <a:p>
            <a:r>
              <a:rPr lang="en-ZA" dirty="0"/>
              <a:t>With S3, there's **$0 upfront cost**. You pay pennies per GB for storage. The AWS Free Tier will likely cover all hosting costs for the first year, making it free to start.</a:t>
            </a:r>
          </a:p>
          <a:p>
            <a:endParaRPr lang="en-Z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1265C-A463-CD69-4088-6A277073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z="2400" b="1" dirty="0"/>
              <a:t>On-Premises vs. AWS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EB4F5-4D14-08D6-8A38-5E28BEB1D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10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59421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841860-7961-0589-EF0B-667C20E46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916" y="1195075"/>
            <a:ext cx="6754168" cy="446784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665ED-676E-A3FE-AC46-C64B6132B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2400" b="1" dirty="0"/>
              <a:t>Visual of the cost difference</a:t>
            </a:r>
            <a:endParaRPr lang="en-ZA" sz="2400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EAB65-143A-7037-713E-9B0D36A86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2E7B7-982E-4BE3-8F3E-6914FF9231A7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562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4074D-BCE2-DD96-96B7-473D8ED9A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46979"/>
          </a:xfrm>
        </p:spPr>
        <p:txBody>
          <a:bodyPr>
            <a:normAutofit/>
          </a:bodyPr>
          <a:lstStyle/>
          <a:p>
            <a:r>
              <a:rPr lang="en-ZA" b="1" dirty="0"/>
              <a:t>Questions &amp; Answers?</a:t>
            </a:r>
            <a:br>
              <a:rPr lang="en-ZA" b="1" dirty="0"/>
            </a:br>
            <a:endParaRPr lang="en-ZA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3FBA6-E060-F71E-770E-43A8E5974D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ZA" sz="7200" b="1" dirty="0"/>
              <a:t>Thank you!!</a:t>
            </a:r>
          </a:p>
          <a:p>
            <a:r>
              <a:rPr lang="en-ZA" dirty="0"/>
              <a:t>@MALLS &amp; AWS re/Start</a:t>
            </a:r>
          </a:p>
          <a:p>
            <a:endParaRPr lang="en-ZA" sz="7200" b="1" dirty="0"/>
          </a:p>
        </p:txBody>
      </p:sp>
    </p:spTree>
    <p:extLst>
      <p:ext uri="{BB962C8B-B14F-4D97-AF65-F5344CB8AC3E}">
        <p14:creationId xmlns:p14="http://schemas.microsoft.com/office/powerpoint/2010/main" val="2719585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821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@MALLS "Africa's finest roots”</vt:lpstr>
      <vt:lpstr>@MALLS is a celebrated local restaurant, famous for its authentic Southern African cuisine. </vt:lpstr>
      <vt:lpstr>A busy restaurant with a chaotic atmosphere</vt:lpstr>
      <vt:lpstr>Operational Challenges</vt:lpstr>
      <vt:lpstr>The Solution: A New Digital Front-Door </vt:lpstr>
      <vt:lpstr>Digital Transformation for @MALLS Migrating to AWS for Growth &amp; Efficiency</vt:lpstr>
      <vt:lpstr>Amazon S3: Website Hosting</vt:lpstr>
      <vt:lpstr>PowerPoint Presentation</vt:lpstr>
      <vt:lpstr>PowerPoint Presentation</vt:lpstr>
      <vt:lpstr>Cost Analysis: On-Premises vs. AWS</vt:lpstr>
      <vt:lpstr>PowerPoint Presentation</vt:lpstr>
      <vt:lpstr>Questions &amp; Answers?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Mokgadi Selepe</dc:creator>
  <cp:lastModifiedBy>Mokgadi Selepe</cp:lastModifiedBy>
  <cp:revision>20</cp:revision>
  <dcterms:created xsi:type="dcterms:W3CDTF">2025-11-12T20:35:46Z</dcterms:created>
  <dcterms:modified xsi:type="dcterms:W3CDTF">2025-11-12T22:20:53Z</dcterms:modified>
</cp:coreProperties>
</file>